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5" r:id="rId8"/>
    <p:sldId id="263" r:id="rId9"/>
    <p:sldId id="266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60"/>
  </p:normalViewPr>
  <p:slideViewPr>
    <p:cSldViewPr snapToGrid="0">
      <p:cViewPr>
        <p:scale>
          <a:sx n="81" d="100"/>
          <a:sy n="81" d="100"/>
        </p:scale>
        <p:origin x="12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40AAE-B557-4A4C-98E9-5B8C14162BEB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CFFBF2-46AD-4B9B-9945-60CBBCB33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37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FFBF2-46AD-4B9B-9945-60CBBCB338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79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437D9-E186-E4BE-9088-3E87E9536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5D903-94D5-3BCF-FE98-B2F625BE1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15596-00E1-15A0-83F4-0064F759B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D519-C991-42F4-8D29-234D8AC8DA9B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D043D-D789-3792-432F-3A7E41F4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35F3E-6B42-E097-A688-D7705ABD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70E-6FF3-4F42-AE73-BFEBBCF2D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57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7C65F-C794-03EA-E7E3-D08BDF05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8435D-874A-FA59-DA88-595C0A12A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FB604-19AB-B5F0-2767-7FEBD3984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D519-C991-42F4-8D29-234D8AC8DA9B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8EB8F-68BB-E9B0-DF18-4CDFBF0B3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E24C5-2FB4-8A3C-7E54-E76CFCF4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70E-6FF3-4F42-AE73-BFEBBCF2D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49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12347-2C22-004C-30A0-932E5A84E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EC742-376D-4709-D424-632511853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08831-2291-013F-9089-825089E6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D519-C991-42F4-8D29-234D8AC8DA9B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EF850-2660-061D-D11C-BBC295D70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3B5C0-C50A-B77D-DF6E-EF28D34FA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70E-6FF3-4F42-AE73-BFEBBCF2D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0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5B87A-9C1B-0985-ADB6-E87F67E21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F77DF-C316-086D-3E84-D9A5E70D7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FDCBA-8DF9-08C7-A8EB-18528F054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A9C04F-1326-F493-7643-B28C20863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D519-C991-42F4-8D29-234D8AC8DA9B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920FC-667E-EE97-3F4F-D7806A03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563D-28D2-324C-A064-0DA71575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70E-6FF3-4F42-AE73-BFEBBCF2D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83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D9B0D-FCAB-D58F-E5F3-422E213D1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6803B-CE5E-AC82-F8F8-433A61510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94912-0046-E105-CE16-432AB4700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4C9EA4-3DCF-F5FD-5990-C6D6EE81C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12F641-6371-92F3-7DE2-577E33E52B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77901-0599-790A-7C19-3EE5D2644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D519-C991-42F4-8D29-234D8AC8DA9B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14446A-87EA-142C-2DE1-CCFD0F28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FC988-A2D8-9662-BCBE-3E7E596C1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70E-6FF3-4F42-AE73-BFEBBCF2D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57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66429-2B8B-3B76-E4E1-6FD605F45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7BB544-F01A-507E-D3C9-987F358EA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D519-C991-42F4-8D29-234D8AC8DA9B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DB584-88A4-15BF-1D9E-624004E61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83C730-4012-A55E-E92A-6F499D2B4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70E-6FF3-4F42-AE73-BFEBBCF2D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02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5BB036-0C9C-6AFC-B0D9-4043A80F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D519-C991-42F4-8D29-234D8AC8DA9B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13AEF0-7A5A-C24E-AD20-FA3A92E4C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34BAF-E80C-3D8A-1CFC-D182820B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70E-6FF3-4F42-AE73-BFEBBCF2D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09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832AD-09E8-303E-5A68-E28BAD32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06EF7-A0DC-3CBF-0795-D300A0B19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71710-FDED-0D41-F091-7D45E04DE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72284-7B5C-8E73-9802-625DDBCEE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D519-C991-42F4-8D29-234D8AC8DA9B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0CE84-89A2-46BB-803D-7D9F3BDF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CFB268-11F0-4435-F641-0A92B7C0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70E-6FF3-4F42-AE73-BFEBBCF2D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19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A4FF-098C-A45D-D49E-19ED5023F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4ECC37-1955-933E-E280-8122A2D6C6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88376-FBEF-DD2B-5DF0-FE8A3904B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1FFE7-FA88-2324-7087-3B44A05AB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D519-C991-42F4-8D29-234D8AC8DA9B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2147B-EED9-7AE3-2072-D84F1DBC1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C2653-DB6C-1547-B014-E78DC120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70E-6FF3-4F42-AE73-BFEBBCF2D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80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C2C70-CA99-3645-18F0-70B141091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30A4D-BE73-44F9-E4A3-27EB4DCFC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DA58D-0D53-CBA7-50C5-2BB43DB7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D519-C991-42F4-8D29-234D8AC8DA9B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79C70-AF9F-1D61-CA8E-9DFBC77B6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0F34E-0418-B7F8-E0FA-8D442A5AF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70E-6FF3-4F42-AE73-BFEBBCF2D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85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C8A6F7-3115-8A3C-2EF2-DDB8261B7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FE5898-6691-E0D4-F06C-FA6D18BCF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2285E-D099-811A-F3E1-BF7A4C5E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D519-C991-42F4-8D29-234D8AC8DA9B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4D5E6-2E99-70D3-DC11-E2D7C41E2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1C404-0FE6-F813-EE3C-04E2DFF9D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70E-6FF3-4F42-AE73-BFEBBCF2D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78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49BDCA-EEA3-A8B6-AC54-282870D9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975F9-2304-4C35-4A08-F7A958846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5BDD5-0B63-3F9A-DBC4-6C6EA8901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20D519-C991-42F4-8D29-234D8AC8DA9B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CA962-60AA-7C11-8DC7-430730E9E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D089D-2A36-E639-A078-4822AFD153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99C70E-6FF3-4F42-AE73-BFEBBCF2D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8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0.png"/><Relationship Id="rId10" Type="http://schemas.openxmlformats.org/officeDocument/2006/relationships/image" Target="../media/image13.png"/><Relationship Id="rId4" Type="http://schemas.openxmlformats.org/officeDocument/2006/relationships/image" Target="../media/image70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9EF12-208B-B132-BC85-F66FF8DC46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Chirp rate for RCBG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4E729-0ACA-96BA-D5A7-E1C6FD39D8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510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FA8E-F3FE-D2D9-A8E9-279DC3437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 calculation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7AD32D-12B4-C337-A15B-5797D3653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6934"/>
          <a:stretch/>
        </p:blipFill>
        <p:spPr>
          <a:xfrm>
            <a:off x="4242512" y="1979565"/>
            <a:ext cx="3670926" cy="1221974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A2523DDF-0266-33EF-95B5-B53A7D9DB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35"/>
          <a:stretch/>
        </p:blipFill>
        <p:spPr>
          <a:xfrm>
            <a:off x="4546948" y="3429000"/>
            <a:ext cx="3062054" cy="122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700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5CCE5B-7472-052B-3302-7B88175D9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Different lenses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98F9F0D-32F5-B40C-48C0-370DE0CB89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3117867"/>
              </p:ext>
            </p:extLst>
          </p:nvPr>
        </p:nvGraphicFramePr>
        <p:xfrm>
          <a:off x="4905052" y="319332"/>
          <a:ext cx="6666835" cy="6127895"/>
        </p:xfrm>
        <a:graphic>
          <a:graphicData uri="http://schemas.openxmlformats.org/drawingml/2006/table">
            <a:tbl>
              <a:tblPr/>
              <a:tblGrid>
                <a:gridCol w="1575243">
                  <a:extLst>
                    <a:ext uri="{9D8B030D-6E8A-4147-A177-3AD203B41FA5}">
                      <a16:colId xmlns:a16="http://schemas.microsoft.com/office/drawing/2014/main" val="1734904705"/>
                    </a:ext>
                  </a:extLst>
                </a:gridCol>
                <a:gridCol w="1755721">
                  <a:extLst>
                    <a:ext uri="{9D8B030D-6E8A-4147-A177-3AD203B41FA5}">
                      <a16:colId xmlns:a16="http://schemas.microsoft.com/office/drawing/2014/main" val="3926323161"/>
                    </a:ext>
                  </a:extLst>
                </a:gridCol>
                <a:gridCol w="1704788">
                  <a:extLst>
                    <a:ext uri="{9D8B030D-6E8A-4147-A177-3AD203B41FA5}">
                      <a16:colId xmlns:a16="http://schemas.microsoft.com/office/drawing/2014/main" val="1600026303"/>
                    </a:ext>
                  </a:extLst>
                </a:gridCol>
                <a:gridCol w="1429744">
                  <a:extLst>
                    <a:ext uri="{9D8B030D-6E8A-4147-A177-3AD203B41FA5}">
                      <a16:colId xmlns:a16="http://schemas.microsoft.com/office/drawing/2014/main" val="395704896"/>
                    </a:ext>
                  </a:extLst>
                </a:gridCol>
                <a:gridCol w="201339">
                  <a:extLst>
                    <a:ext uri="{9D8B030D-6E8A-4147-A177-3AD203B41FA5}">
                      <a16:colId xmlns:a16="http://schemas.microsoft.com/office/drawing/2014/main" val="2285881501"/>
                    </a:ext>
                  </a:extLst>
                </a:gridCol>
              </a:tblGrid>
              <a:tr h="8743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Focal Length (mm)</a:t>
                      </a:r>
                      <a:endParaRPr lang="en-US" sz="3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Radius R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(mm)</a:t>
                      </a:r>
                      <a:endParaRPr lang="en-US" sz="3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Bandwidth  (nm)</a:t>
                      </a:r>
                      <a:endParaRPr lang="en-US" sz="3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Chirp Rate (nm/mm)</a:t>
                      </a:r>
                      <a:endParaRPr lang="en-US" sz="3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2576" marR="172576" marT="86288" marB="86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994186"/>
                  </a:ext>
                </a:extLst>
              </a:tr>
              <a:tr h="3926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3000</a:t>
                      </a:r>
                      <a:endParaRPr lang="en-US" sz="3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6000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6.504662</a:t>
                      </a:r>
                      <a:endParaRPr lang="en-US" sz="3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0.260186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484523"/>
                  </a:ext>
                </a:extLst>
              </a:tr>
              <a:tr h="3926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4000</a:t>
                      </a:r>
                      <a:endParaRPr lang="en-US" sz="3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9.756993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0.39028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428577"/>
                  </a:ext>
                </a:extLst>
              </a:tr>
              <a:tr h="3926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1500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3000</a:t>
                      </a:r>
                      <a:endParaRPr lang="en-US" sz="3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13.00932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0.520373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228158"/>
                  </a:ext>
                </a:extLst>
              </a:tr>
              <a:tr h="3926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1000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19.51399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0.780559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187686"/>
                  </a:ext>
                </a:extLst>
              </a:tr>
              <a:tr h="3926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750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1500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26.01865</a:t>
                      </a:r>
                      <a:endParaRPr lang="en-US" sz="3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1.040746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9923"/>
                  </a:ext>
                </a:extLst>
              </a:tr>
              <a:tr h="3926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1000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39.02797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1.561119</a:t>
                      </a:r>
                      <a:endParaRPr lang="en-US" sz="3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260880"/>
                  </a:ext>
                </a:extLst>
              </a:tr>
              <a:tr h="3926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78.05595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3.122238</a:t>
                      </a:r>
                      <a:endParaRPr lang="en-US" sz="3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894354"/>
                  </a:ext>
                </a:extLst>
              </a:tr>
              <a:tr h="3926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195.1399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7.805595</a:t>
                      </a:r>
                      <a:endParaRPr lang="en-US" sz="3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3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529262"/>
                  </a:ext>
                </a:extLst>
              </a:tr>
              <a:tr h="3926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390.2797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15.61119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3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23170"/>
                  </a:ext>
                </a:extLst>
              </a:tr>
              <a:tr h="3926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780.5595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31.22238</a:t>
                      </a:r>
                      <a:endParaRPr lang="en-US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3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1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348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940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71C74-BB06-1835-5284-25E5A11A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DF00-B673-14B4-7A4B-186405A22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How get this equation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909E6-4AB2-9E58-A59D-F77C25D15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496" y="1450485"/>
            <a:ext cx="4439239" cy="560021"/>
          </a:xfrm>
        </p:spPr>
        <p:txBody>
          <a:bodyPr/>
          <a:lstStyle/>
          <a:p>
            <a:r>
              <a:rPr lang="en-US" dirty="0"/>
              <a:t>RBG equation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FD4C78-4A42-0547-C28D-54C23E05DD16}"/>
              </a:ext>
            </a:extLst>
          </p:cNvPr>
          <p:cNvSpPr/>
          <p:nvPr/>
        </p:nvSpPr>
        <p:spPr>
          <a:xfrm>
            <a:off x="1693986" y="1993888"/>
            <a:ext cx="2637693" cy="1564064"/>
          </a:xfrm>
          <a:prstGeom prst="rect">
            <a:avLst/>
          </a:prstGeom>
          <a:gradFill flip="none" rotWithShape="1">
            <a:gsLst>
              <a:gs pos="6000">
                <a:srgbClr val="84CBEB"/>
              </a:gs>
              <a:gs pos="0">
                <a:schemeClr val="accent1">
                  <a:lumMod val="20000"/>
                  <a:lumOff val="80000"/>
                  <a:alpha val="59000"/>
                </a:schemeClr>
              </a:gs>
              <a:gs pos="12000">
                <a:schemeClr val="accent1">
                  <a:lumMod val="60000"/>
                  <a:lumOff val="40000"/>
                </a:schemeClr>
              </a:gs>
              <a:gs pos="95987">
                <a:schemeClr val="accent1">
                  <a:lumMod val="20000"/>
                  <a:lumOff val="80000"/>
                </a:schemeClr>
              </a:gs>
              <a:gs pos="85000">
                <a:schemeClr val="accent1">
                  <a:lumMod val="60000"/>
                  <a:lumOff val="40000"/>
                </a:schemeClr>
              </a:gs>
              <a:gs pos="73244">
                <a:schemeClr val="accent1">
                  <a:lumMod val="20000"/>
                  <a:lumOff val="80000"/>
                </a:schemeClr>
              </a:gs>
              <a:gs pos="61000">
                <a:schemeClr val="accent1">
                  <a:lumMod val="60000"/>
                  <a:lumOff val="40000"/>
                </a:schemeClr>
              </a:gs>
              <a:gs pos="49000">
                <a:schemeClr val="accent1">
                  <a:lumMod val="20000"/>
                  <a:lumOff val="80000"/>
                </a:schemeClr>
              </a:gs>
              <a:gs pos="37000">
                <a:schemeClr val="accent1">
                  <a:lumMod val="60000"/>
                  <a:lumOff val="40000"/>
                </a:schemeClr>
              </a:gs>
              <a:gs pos="24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985CCF-4C43-AF4C-3178-629F2B1F66F9}"/>
                  </a:ext>
                </a:extLst>
              </p:cNvPr>
              <p:cNvSpPr txBox="1"/>
              <p:nvPr/>
            </p:nvSpPr>
            <p:spPr>
              <a:xfrm>
                <a:off x="1650024" y="3792416"/>
                <a:ext cx="272561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</m:func>
                      <m:r>
                        <a:rPr lang="en-US" sz="2000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𝛷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𝑄𝑧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985CCF-4C43-AF4C-3178-629F2B1F6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024" y="3792416"/>
                <a:ext cx="2725616" cy="707886"/>
              </a:xfrm>
              <a:prstGeom prst="rect">
                <a:avLst/>
              </a:prstGeom>
              <a:blipFill>
                <a:blip r:embed="rId2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9DBF10-7D29-26CB-06CA-85A64FC4B66F}"/>
                  </a:ext>
                </a:extLst>
              </p:cNvPr>
              <p:cNvSpPr txBox="1"/>
              <p:nvPr/>
            </p:nvSpPr>
            <p:spPr>
              <a:xfrm>
                <a:off x="7133488" y="2186474"/>
                <a:ext cx="39272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000" i="0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Λ</m:t>
                      </m:r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,  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9DBF10-7D29-26CB-06CA-85A64FC4B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3488" y="2186474"/>
                <a:ext cx="3927233" cy="400110"/>
              </a:xfrm>
              <a:prstGeom prst="rect">
                <a:avLst/>
              </a:prstGeom>
              <a:blipFill>
                <a:blip r:embed="rId3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C3CE27-0DAA-4FCE-5EA6-4519BDC0076C}"/>
                  </a:ext>
                </a:extLst>
              </p:cNvPr>
              <p:cNvSpPr txBox="1"/>
              <p:nvPr/>
            </p:nvSpPr>
            <p:spPr>
              <a:xfrm>
                <a:off x="7285892" y="2721521"/>
                <a:ext cx="3182815" cy="729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000" i="0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→ </m:t>
                      </m:r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000" i="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0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C3CE27-0DAA-4FCE-5EA6-4519BDC00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5892" y="2721521"/>
                <a:ext cx="3182815" cy="7290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FAA120-7975-BCB3-3534-74C1CDFC47BF}"/>
                  </a:ext>
                </a:extLst>
              </p:cNvPr>
              <p:cNvSpPr txBox="1"/>
              <p:nvPr/>
            </p:nvSpPr>
            <p:spPr>
              <a:xfrm>
                <a:off x="6573714" y="3792416"/>
                <a:ext cx="4607170" cy="123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f>
                            <m:f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𝛷</m:t>
                              </m:r>
                            </m:num>
                            <m:den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𝑑𝑧</m:t>
                              </m:r>
                            </m:den>
                          </m:f>
                        </m:den>
                      </m:f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 →  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</a:rPr>
                            <m:t>Λ</m:t>
                          </m:r>
                        </m:den>
                      </m:f>
                      <m:r>
                        <a:rPr lang="en-US" sz="20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0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FAA120-7975-BCB3-3534-74C1CDFC4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714" y="3792416"/>
                <a:ext cx="4607170" cy="1234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696A4D-F3CD-7452-4838-D6729BA75C26}"/>
              </a:ext>
            </a:extLst>
          </p:cNvPr>
          <p:cNvCxnSpPr/>
          <p:nvPr/>
        </p:nvCxnSpPr>
        <p:spPr>
          <a:xfrm flipH="1">
            <a:off x="9870141" y="2010506"/>
            <a:ext cx="598566" cy="6385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22A7FA-6A18-6FF5-0CB1-A85743B8FE05}"/>
                  </a:ext>
                </a:extLst>
              </p:cNvPr>
              <p:cNvSpPr txBox="1"/>
              <p:nvPr/>
            </p:nvSpPr>
            <p:spPr>
              <a:xfrm>
                <a:off x="10498014" y="2032537"/>
                <a:ext cx="8992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sz="1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22A7FA-6A18-6FF5-0CB1-A85743B8F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014" y="2032537"/>
                <a:ext cx="89927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F9A155F-7C8A-85DE-31E0-325712FD81ED}"/>
                  </a:ext>
                </a:extLst>
              </p:cNvPr>
              <p:cNvSpPr txBox="1"/>
              <p:nvPr/>
            </p:nvSpPr>
            <p:spPr>
              <a:xfrm>
                <a:off x="10104795" y="2867995"/>
                <a:ext cx="727824" cy="47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⨯</m:t>
                      </m:r>
                      <m:f>
                        <m:fPr>
                          <m:type m:val="skw"/>
                          <m:ctrlPr>
                            <a:rPr lang="el-GR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F9A155F-7C8A-85DE-31E0-325712FD8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4795" y="2867995"/>
                <a:ext cx="727824" cy="476349"/>
              </a:xfrm>
              <a:prstGeom prst="rect">
                <a:avLst/>
              </a:prstGeom>
              <a:blipFill>
                <a:blip r:embed="rId7"/>
                <a:stretch>
                  <a:fillRect l="-15966" t="-112658" r="-96639" b="-169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198F49B-922E-3AB7-CD5A-631653DA292D}"/>
                  </a:ext>
                </a:extLst>
              </p:cNvPr>
              <p:cNvSpPr txBox="1"/>
              <p:nvPr/>
            </p:nvSpPr>
            <p:spPr>
              <a:xfrm>
                <a:off x="10773850" y="3913521"/>
                <a:ext cx="727824" cy="533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⨯</m:t>
                      </m:r>
                      <m:f>
                        <m:fPr>
                          <m:type m:val="skw"/>
                          <m:ctrlPr>
                            <a:rPr lang="el-GR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l-GR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198F49B-922E-3AB7-CD5A-631653DA2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3850" y="3913521"/>
                <a:ext cx="727824" cy="533992"/>
              </a:xfrm>
              <a:prstGeom prst="rect">
                <a:avLst/>
              </a:prstGeom>
              <a:blipFill>
                <a:blip r:embed="rId8"/>
                <a:stretch>
                  <a:fillRect l="-15000" t="-95455" r="-95833" b="-147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816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3DE3C-5335-C926-B340-38E89FA77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3FE20-3679-3B49-49B0-FBB1E29DD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126" y="186626"/>
            <a:ext cx="4555111" cy="667959"/>
          </a:xfrm>
        </p:spPr>
        <p:txBody>
          <a:bodyPr>
            <a:normAutofit/>
          </a:bodyPr>
          <a:lstStyle/>
          <a:p>
            <a:r>
              <a:rPr lang="en-US" sz="3200" dirty="0"/>
              <a:t>Chirped RBG equation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3569E1-75CA-671D-94DA-49E76701FF7C}"/>
              </a:ext>
            </a:extLst>
          </p:cNvPr>
          <p:cNvSpPr/>
          <p:nvPr/>
        </p:nvSpPr>
        <p:spPr>
          <a:xfrm>
            <a:off x="1176900" y="1110907"/>
            <a:ext cx="2637693" cy="1564064"/>
          </a:xfrm>
          <a:prstGeom prst="rect">
            <a:avLst/>
          </a:prstGeom>
          <a:gradFill flip="none" rotWithShape="1">
            <a:gsLst>
              <a:gs pos="7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  <a:alpha val="59000"/>
                </a:schemeClr>
              </a:gs>
              <a:gs pos="6000">
                <a:schemeClr val="accent1">
                  <a:lumMod val="60000"/>
                  <a:lumOff val="40000"/>
                </a:schemeClr>
              </a:gs>
              <a:gs pos="63000">
                <a:schemeClr val="accent1">
                  <a:lumMod val="20000"/>
                  <a:lumOff val="80000"/>
                </a:schemeClr>
              </a:gs>
              <a:gs pos="53000">
                <a:schemeClr val="accent1">
                  <a:lumMod val="60000"/>
                  <a:lumOff val="40000"/>
                </a:schemeClr>
              </a:gs>
              <a:gs pos="43000">
                <a:schemeClr val="accent1">
                  <a:lumMod val="20000"/>
                  <a:lumOff val="80000"/>
                </a:schemeClr>
              </a:gs>
              <a:gs pos="34000">
                <a:schemeClr val="accent1">
                  <a:lumMod val="60000"/>
                  <a:lumOff val="40000"/>
                </a:schemeClr>
              </a:gs>
              <a:gs pos="26000">
                <a:schemeClr val="accent1">
                  <a:lumMod val="20000"/>
                  <a:lumOff val="80000"/>
                </a:schemeClr>
              </a:gs>
              <a:gs pos="18000">
                <a:schemeClr val="accent1">
                  <a:lumMod val="60000"/>
                  <a:lumOff val="40000"/>
                </a:schemeClr>
              </a:gs>
              <a:gs pos="12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DA0486-C168-D165-C688-3D096825C3F2}"/>
                  </a:ext>
                </a:extLst>
              </p:cNvPr>
              <p:cNvSpPr txBox="1"/>
              <p:nvPr/>
            </p:nvSpPr>
            <p:spPr>
              <a:xfrm>
                <a:off x="947445" y="2860755"/>
                <a:ext cx="3096599" cy="13311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</m:func>
                      <m:r>
                        <a:rPr lang="en-US" sz="2000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dirty="0"/>
              </a:p>
              <a:p>
                <a:pPr algn="ctr"/>
                <a:endParaRPr lang="en-US" sz="1000" dirty="0"/>
              </a:p>
              <a:p>
                <a:pPr algn="ctr"/>
                <a:r>
                  <a:rPr lang="en-US" sz="2000" dirty="0"/>
                  <a:t>which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𝛷</m:t>
                    </m:r>
                  </m:oMath>
                </a14:m>
                <a:r>
                  <a:rPr lang="en-US" sz="2000" dirty="0"/>
                  <a:t> is modulated in z</a:t>
                </a:r>
              </a:p>
              <a:p>
                <a:pPr algn="ctr"/>
                <a:endParaRPr lang="en-US" sz="105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𝛷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p>
                        <m:sSup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DA0486-C168-D165-C688-3D096825C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45" y="2860755"/>
                <a:ext cx="3096599" cy="1331134"/>
              </a:xfrm>
              <a:prstGeom prst="rect">
                <a:avLst/>
              </a:prstGeom>
              <a:blipFill>
                <a:blip r:embed="rId3"/>
                <a:stretch>
                  <a:fillRect l="-197" r="-394" b="-31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E50C39-BD40-646E-6B7E-0347004174EE}"/>
                  </a:ext>
                </a:extLst>
              </p:cNvPr>
              <p:cNvSpPr txBox="1"/>
              <p:nvPr/>
            </p:nvSpPr>
            <p:spPr>
              <a:xfrm>
                <a:off x="6616402" y="652860"/>
                <a:ext cx="39272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)=2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,  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E50C39-BD40-646E-6B7E-034700417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402" y="652860"/>
                <a:ext cx="3927233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8973F1-E3D8-539A-257C-A37C0FA0838F}"/>
                  </a:ext>
                </a:extLst>
              </p:cNvPr>
              <p:cNvSpPr txBox="1"/>
              <p:nvPr/>
            </p:nvSpPr>
            <p:spPr>
              <a:xfrm>
                <a:off x="6525551" y="1289436"/>
                <a:ext cx="366932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0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en-US" sz="2000" i="0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8973F1-E3D8-539A-257C-A37C0FA08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551" y="1289436"/>
                <a:ext cx="3669323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8DB8D2-C5A1-39D2-CB6C-9FA7B834C2BE}"/>
                  </a:ext>
                </a:extLst>
              </p:cNvPr>
              <p:cNvSpPr txBox="1"/>
              <p:nvPr/>
            </p:nvSpPr>
            <p:spPr>
              <a:xfrm>
                <a:off x="5291703" y="1877796"/>
                <a:ext cx="6435969" cy="27407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f>
                            <m:f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𝛷</m:t>
                              </m:r>
                            </m:num>
                            <m:den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𝑑𝑧</m:t>
                              </m:r>
                            </m:den>
                          </m:f>
                        </m:den>
                      </m:f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endParaRPr lang="en-US" sz="8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𝑖𝑓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→</m:t>
                      </m:r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d>
                        <m:d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0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d>
                        <m:d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8DB8D2-C5A1-39D2-CB6C-9FA7B834C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703" y="1877796"/>
                <a:ext cx="6435969" cy="27407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918B628-5588-8C4B-1F7E-6E37E9F1F590}"/>
              </a:ext>
            </a:extLst>
          </p:cNvPr>
          <p:cNvSpPr/>
          <p:nvPr/>
        </p:nvSpPr>
        <p:spPr>
          <a:xfrm>
            <a:off x="3113504" y="1127521"/>
            <a:ext cx="685801" cy="1541588"/>
          </a:xfrm>
          <a:prstGeom prst="rect">
            <a:avLst/>
          </a:prstGeom>
          <a:gradFill flip="none" rotWithShape="1">
            <a:gsLst>
              <a:gs pos="78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4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6B6D18-388B-F75C-61C7-05F4D24BA89A}"/>
              </a:ext>
            </a:extLst>
          </p:cNvPr>
          <p:cNvCxnSpPr/>
          <p:nvPr/>
        </p:nvCxnSpPr>
        <p:spPr>
          <a:xfrm>
            <a:off x="5274117" y="1819178"/>
            <a:ext cx="6324600" cy="0"/>
          </a:xfrm>
          <a:prstGeom prst="line">
            <a:avLst/>
          </a:prstGeom>
          <a:ln w="12700">
            <a:solidFill>
              <a:schemeClr val="accent3">
                <a:lumMod val="60000"/>
                <a:lumOff val="4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B2E4475-CB6A-060C-AFB0-23E0E96F3F89}"/>
              </a:ext>
            </a:extLst>
          </p:cNvPr>
          <p:cNvSpPr txBox="1"/>
          <p:nvPr/>
        </p:nvSpPr>
        <p:spPr>
          <a:xfrm>
            <a:off x="429551" y="49052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 the other hand,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4E877B-741B-0EDD-FC93-DD891ABFC5FA}"/>
                  </a:ext>
                </a:extLst>
              </p:cNvPr>
              <p:cNvSpPr txBox="1"/>
              <p:nvPr/>
            </p:nvSpPr>
            <p:spPr>
              <a:xfrm>
                <a:off x="2612979" y="4713619"/>
                <a:ext cx="9243643" cy="1667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0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0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0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𝑎𝑙𝑠𝑜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0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dirty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−8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 ,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dirty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00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   →     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000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4E877B-741B-0EDD-FC93-DD891ABFC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979" y="4713619"/>
                <a:ext cx="9243643" cy="16678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6F18E62-0CFA-0F2C-CF2C-99C0C59BE1CA}"/>
              </a:ext>
            </a:extLst>
          </p:cNvPr>
          <p:cNvCxnSpPr>
            <a:cxnSpLocks/>
          </p:cNvCxnSpPr>
          <p:nvPr/>
        </p:nvCxnSpPr>
        <p:spPr>
          <a:xfrm rot="10800000" flipV="1">
            <a:off x="9237249" y="4468597"/>
            <a:ext cx="2033225" cy="650643"/>
          </a:xfrm>
          <a:prstGeom prst="bentConnector3">
            <a:avLst>
              <a:gd name="adj1" fmla="val -26396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2BA8A31-F9B3-9564-6462-23B622D27FE6}"/>
                  </a:ext>
                </a:extLst>
              </p:cNvPr>
              <p:cNvSpPr txBox="1"/>
              <p:nvPr/>
            </p:nvSpPr>
            <p:spPr>
              <a:xfrm>
                <a:off x="11321759" y="4099267"/>
                <a:ext cx="55391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2BA8A31-F9B3-9564-6462-23B622D27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1759" y="4099267"/>
                <a:ext cx="553915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F37C505-7939-6138-9C42-A54200E04C99}"/>
                  </a:ext>
                </a:extLst>
              </p:cNvPr>
              <p:cNvSpPr txBox="1"/>
              <p:nvPr/>
            </p:nvSpPr>
            <p:spPr>
              <a:xfrm>
                <a:off x="9635100" y="1289436"/>
                <a:ext cx="69752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b="0" i="1" smtClean="0"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F37C505-7939-6138-9C42-A54200E04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5100" y="1289436"/>
                <a:ext cx="69752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784408AB-8883-5BE5-4797-FAE420C00454}"/>
              </a:ext>
            </a:extLst>
          </p:cNvPr>
          <p:cNvSpPr/>
          <p:nvPr/>
        </p:nvSpPr>
        <p:spPr>
          <a:xfrm>
            <a:off x="6206103" y="5412930"/>
            <a:ext cx="1166446" cy="11013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ED7B90A-77D0-A6A3-C390-E65ED964A383}"/>
              </a:ext>
            </a:extLst>
          </p:cNvPr>
          <p:cNvSpPr/>
          <p:nvPr/>
        </p:nvSpPr>
        <p:spPr>
          <a:xfrm>
            <a:off x="4006391" y="4618546"/>
            <a:ext cx="611965" cy="9289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4F712BB-674C-6531-390F-EEA725A711BE}"/>
              </a:ext>
            </a:extLst>
          </p:cNvPr>
          <p:cNvSpPr/>
          <p:nvPr/>
        </p:nvSpPr>
        <p:spPr>
          <a:xfrm>
            <a:off x="1635551" y="3742441"/>
            <a:ext cx="1710964" cy="494907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C0F7529-D9EA-6E14-C631-4D69F34B8288}"/>
              </a:ext>
            </a:extLst>
          </p:cNvPr>
          <p:cNvCxnSpPr/>
          <p:nvPr/>
        </p:nvCxnSpPr>
        <p:spPr>
          <a:xfrm flipH="1">
            <a:off x="9794615" y="555798"/>
            <a:ext cx="598566" cy="6385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997786-660A-9C5E-A017-F67A99C75279}"/>
                  </a:ext>
                </a:extLst>
              </p:cNvPr>
              <p:cNvSpPr txBox="1"/>
              <p:nvPr/>
            </p:nvSpPr>
            <p:spPr>
              <a:xfrm>
                <a:off x="10422488" y="577829"/>
                <a:ext cx="8992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sz="1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997786-660A-9C5E-A017-F67A99C75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2488" y="577829"/>
                <a:ext cx="89927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59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349092-77E2-77F9-AFB7-5EEC72D85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192" y="636309"/>
            <a:ext cx="6356808" cy="48544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4F17E2-1294-96A7-9480-1841A1A25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8289"/>
            <a:ext cx="7029022" cy="20738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91C3FF-8207-340E-6347-CA173D0015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890" r="7671"/>
          <a:stretch/>
        </p:blipFill>
        <p:spPr>
          <a:xfrm>
            <a:off x="0" y="3544811"/>
            <a:ext cx="7532016" cy="116387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3B805AA-DA65-A902-EBDC-69C5E0C9A9CC}"/>
              </a:ext>
            </a:extLst>
          </p:cNvPr>
          <p:cNvSpPr/>
          <p:nvPr/>
        </p:nvSpPr>
        <p:spPr>
          <a:xfrm>
            <a:off x="5783344" y="3808429"/>
            <a:ext cx="1795807" cy="900259"/>
          </a:xfrm>
          <a:prstGeom prst="rect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68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54FBC-DC5E-B01C-D40C-B06DA97F7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One plane wave and spherical waves for recording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77A4015D-6831-15C0-5561-830B1D42477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1017061" y="1690688"/>
                <a:ext cx="10515600" cy="20313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lvl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One beam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: a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plane wave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(i.e., infinite radius of curvature R=∞)</a:t>
                </a:r>
              </a:p>
              <a:p>
                <a:pPr algn="just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Other beam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: a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converging cylindrical wave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(finite radius of curvature R)</a:t>
                </a:r>
              </a:p>
              <a:p>
                <a:pPr algn="just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1800" dirty="0">
                  <a:latin typeface="Arial" panose="020B0604020202020204" pitchFamily="34" charset="0"/>
                </a:endParaRPr>
              </a:p>
              <a:p>
                <a:pPr algn="just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algn="just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the interference phase difference between the two beams is based on the optical path lengths. When both beams are curved, both contribute terms proportional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.</a:t>
                </a:r>
              </a:p>
              <a:p>
                <a:pPr algn="just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Now </a:t>
                </a:r>
                <a:r>
                  <a:rPr kumimoji="0" lang="en-US" altLang="en-US" sz="1800" b="0" i="0" u="sng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if one beam is a plane wave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, its contribution to the phase curvature is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zero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77A4015D-6831-15C0-5561-830B1D4247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017061" y="1690688"/>
                <a:ext cx="10515600" cy="2031325"/>
              </a:xfrm>
              <a:prstGeom prst="rect">
                <a:avLst/>
              </a:prstGeom>
              <a:blipFill>
                <a:blip r:embed="rId2"/>
                <a:stretch>
                  <a:fillRect l="-406" t="-1198" r="-464" b="-419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46FAF5-82D7-6C2C-285B-07BC134B9F34}"/>
                  </a:ext>
                </a:extLst>
              </p:cNvPr>
              <p:cNvSpPr txBox="1"/>
              <p:nvPr/>
            </p:nvSpPr>
            <p:spPr>
              <a:xfrm>
                <a:off x="5466402" y="3979628"/>
                <a:ext cx="16169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46FAF5-82D7-6C2C-285B-07BC134B9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402" y="3979628"/>
                <a:ext cx="1616918" cy="276999"/>
              </a:xfrm>
              <a:prstGeom prst="rect">
                <a:avLst/>
              </a:prstGeom>
              <a:blipFill>
                <a:blip r:embed="rId3"/>
                <a:stretch>
                  <a:fillRect l="-3396" r="-113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A77D16-5DFF-3DBE-5044-4AFC86EA81A7}"/>
                  </a:ext>
                </a:extLst>
              </p:cNvPr>
              <p:cNvSpPr txBox="1"/>
              <p:nvPr/>
            </p:nvSpPr>
            <p:spPr>
              <a:xfrm>
                <a:off x="3291840" y="4422597"/>
                <a:ext cx="7999049" cy="6943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func>
                            <m:func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fName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p>
                                  <m:r>
                                    <a:rPr lang="en-US" sz="2000" i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  <m:d>
                        <m:d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&lt;&lt;</m:t>
                          </m:r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A77D16-5DFF-3DBE-5044-4AFC86EA8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40" y="4422597"/>
                <a:ext cx="7999049" cy="6943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1783D6-DF2C-9E6F-19D3-559F283F8C2B}"/>
                  </a:ext>
                </a:extLst>
              </p:cNvPr>
              <p:cNvSpPr txBox="1"/>
              <p:nvPr/>
            </p:nvSpPr>
            <p:spPr>
              <a:xfrm>
                <a:off x="3291839" y="5167312"/>
                <a:ext cx="345682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z</m:t>
                    </m:r>
                    <m:func>
                      <m:func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dirty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func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1783D6-DF2C-9E6F-19D3-559F283F8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39" y="5167312"/>
                <a:ext cx="3456829" cy="400110"/>
              </a:xfrm>
              <a:prstGeom prst="rect">
                <a:avLst/>
              </a:prstGeom>
              <a:blipFill>
                <a:blip r:embed="rId5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B9BBFF9-587A-E72C-24D1-1859043FD14B}"/>
              </a:ext>
            </a:extLst>
          </p:cNvPr>
          <p:cNvSpPr txBox="1"/>
          <p:nvPr/>
        </p:nvSpPr>
        <p:spPr>
          <a:xfrm>
            <a:off x="2521323" y="6031006"/>
            <a:ext cx="5280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So, the chirp rate would be half of the previous one.</a:t>
            </a:r>
          </a:p>
        </p:txBody>
      </p:sp>
    </p:spTree>
    <p:extLst>
      <p:ext uri="{BB962C8B-B14F-4D97-AF65-F5344CB8AC3E}">
        <p14:creationId xmlns:p14="http://schemas.microsoft.com/office/powerpoint/2010/main" val="2561973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A88D-416C-E7E7-85E4-A3909EA9D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 of recording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F4556-66BC-7E47-CD53-6D8ABA4A6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lambda_0= (580*1.41)= 817.8; </a:t>
            </a:r>
            <a:r>
              <a:rPr lang="en-US" sz="1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%in nm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UV=325;</a:t>
            </a:r>
            <a:r>
              <a:rPr lang="en-US" sz="1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%nm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L=25; </a:t>
            </a:r>
            <a:r>
              <a:rPr lang="en-US" sz="1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%mm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f=180;</a:t>
            </a:r>
            <a:r>
              <a:rPr lang="en-US" sz="1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%mm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E6F3D-4093-95F0-230E-FBDB73754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88" y="4054495"/>
            <a:ext cx="7343833" cy="863298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84323BA6-C30B-927F-3E06-6545A9C0EF6D}"/>
              </a:ext>
            </a:extLst>
          </p:cNvPr>
          <p:cNvSpPr/>
          <p:nvPr/>
        </p:nvSpPr>
        <p:spPr>
          <a:xfrm>
            <a:off x="6344239" y="2026763"/>
            <a:ext cx="1277332" cy="11406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2FAC27-B683-390C-5081-8A93DD9A89C8}"/>
              </a:ext>
            </a:extLst>
          </p:cNvPr>
          <p:cNvSpPr txBox="1"/>
          <p:nvPr/>
        </p:nvSpPr>
        <p:spPr>
          <a:xfrm>
            <a:off x="7907911" y="2012326"/>
            <a:ext cx="38970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Spectral bandwidth </a:t>
            </a:r>
            <a:r>
              <a:rPr lang="en-US" dirty="0" err="1"/>
              <a:t>Δλ</a:t>
            </a:r>
            <a:r>
              <a:rPr lang="en-US" dirty="0"/>
              <a:t> = 48.7247 nm</a:t>
            </a:r>
          </a:p>
          <a:p>
            <a:endParaRPr lang="en-US" dirty="0"/>
          </a:p>
          <a:p>
            <a:r>
              <a:rPr lang="en-US" dirty="0"/>
              <a:t>Chirp rate = 1.9490 nm/mm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F6C22A4-53DA-0CF7-2510-63ACC4020B15}"/>
              </a:ext>
            </a:extLst>
          </p:cNvPr>
          <p:cNvSpPr/>
          <p:nvPr/>
        </p:nvSpPr>
        <p:spPr>
          <a:xfrm>
            <a:off x="9931138" y="1841821"/>
            <a:ext cx="1690149" cy="6871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D107A7-900E-EC49-E4AD-2A3E6E3B07D9}"/>
              </a:ext>
            </a:extLst>
          </p:cNvPr>
          <p:cNvSpPr/>
          <p:nvPr/>
        </p:nvSpPr>
        <p:spPr>
          <a:xfrm>
            <a:off x="7907911" y="4317928"/>
            <a:ext cx="1690149" cy="6871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04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8D900-1E76-EA53-69BF-2CE35880A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13A28-DCD6-FF5A-561B-FCFD209C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 of recording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22DC3-DD46-B60D-223C-ADD1AABE2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49" y="1825625"/>
            <a:ext cx="5771029" cy="4351338"/>
          </a:xfrm>
        </p:spPr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lambda_0= (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1064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*1.41); </a:t>
            </a:r>
            <a:r>
              <a:rPr lang="en-US" sz="1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%in nm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UV=325;</a:t>
            </a:r>
            <a:r>
              <a:rPr lang="en-US" sz="1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%nm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L=25; </a:t>
            </a:r>
            <a:r>
              <a:rPr lang="en-US" sz="1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%mm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f=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300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0 (2*1500);</a:t>
            </a:r>
            <a:r>
              <a:rPr lang="en-US" sz="1800" b="0" i="0" u="none" strike="noStrike" baseline="0" dirty="0">
                <a:solidFill>
                  <a:srgbClr val="028009"/>
                </a:solidFill>
                <a:latin typeface="Courier New" panose="02070309020205020404" pitchFamily="49" charset="0"/>
              </a:rPr>
              <a:t>%mm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60EDACF-9DFA-E521-BB4F-1917454F2AC5}"/>
              </a:ext>
            </a:extLst>
          </p:cNvPr>
          <p:cNvSpPr/>
          <p:nvPr/>
        </p:nvSpPr>
        <p:spPr>
          <a:xfrm>
            <a:off x="6344239" y="2026763"/>
            <a:ext cx="1277332" cy="11406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B13533-6DB3-A139-D128-445730774939}"/>
              </a:ext>
            </a:extLst>
          </p:cNvPr>
          <p:cNvSpPr/>
          <p:nvPr/>
        </p:nvSpPr>
        <p:spPr>
          <a:xfrm>
            <a:off x="9124315" y="2337532"/>
            <a:ext cx="1690149" cy="6871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224D78-FD2C-A2F4-57A5-CC5AC8A81166}"/>
              </a:ext>
            </a:extLst>
          </p:cNvPr>
          <p:cNvSpPr txBox="1"/>
          <p:nvPr/>
        </p:nvSpPr>
        <p:spPr>
          <a:xfrm>
            <a:off x="7921995" y="2026553"/>
            <a:ext cx="3850902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Spectral bandwidth </a:t>
            </a:r>
            <a:r>
              <a:rPr lang="en-US" dirty="0" err="1"/>
              <a:t>Δλ</a:t>
            </a:r>
            <a:r>
              <a:rPr lang="en-US" dirty="0"/>
              <a:t> = 15.1513 nm</a:t>
            </a:r>
          </a:p>
          <a:p>
            <a:endParaRPr lang="en-US" sz="1100" dirty="0"/>
          </a:p>
          <a:p>
            <a:r>
              <a:rPr lang="en-US" dirty="0"/>
              <a:t>Chirp rate = 0.6061 nm/mm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930F3EE-4062-28B8-71F6-B6A2C7D03BB2}"/>
              </a:ext>
            </a:extLst>
          </p:cNvPr>
          <p:cNvGrpSpPr/>
          <p:nvPr/>
        </p:nvGrpSpPr>
        <p:grpSpPr>
          <a:xfrm>
            <a:off x="520566" y="4553901"/>
            <a:ext cx="11252331" cy="799755"/>
            <a:chOff x="520566" y="4553901"/>
            <a:chExt cx="11252331" cy="7997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8A2EDD8-E3F4-B8D6-3954-52B7EE953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0566" y="4553901"/>
              <a:ext cx="11150868" cy="799755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C3AEA51-2664-60D8-2F9D-AC15FB8D94D6}"/>
                </a:ext>
              </a:extLst>
            </p:cNvPr>
            <p:cNvSpPr/>
            <p:nvPr/>
          </p:nvSpPr>
          <p:spPr>
            <a:xfrm>
              <a:off x="7468680" y="4818525"/>
              <a:ext cx="766483" cy="50598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498AFC1-7D60-F126-EBBC-EF6905DE2CFA}"/>
                </a:ext>
              </a:extLst>
            </p:cNvPr>
            <p:cNvSpPr/>
            <p:nvPr/>
          </p:nvSpPr>
          <p:spPr>
            <a:xfrm>
              <a:off x="520566" y="4888009"/>
              <a:ext cx="11252331" cy="309282"/>
            </a:xfrm>
            <a:prstGeom prst="rect">
              <a:avLst/>
            </a:prstGeom>
            <a:solidFill>
              <a:srgbClr val="FF000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3054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1872A-21C4-C5F5-4D49-0762D1C77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Recording considerations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698C2-91D4-9625-A517-D8800DC40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25" y="1825625"/>
            <a:ext cx="11577916" cy="4351338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Align the glass sample and find the zero-fringe after or before rotating glass 45 degrees.</a:t>
            </a:r>
          </a:p>
          <a:p>
            <a:pPr algn="just"/>
            <a:r>
              <a:rPr lang="en-US" sz="2200" dirty="0"/>
              <a:t>Which glass is better? Does scattering related to the glass or setup?</a:t>
            </a:r>
          </a:p>
          <a:p>
            <a:pPr algn="just"/>
            <a:r>
              <a:rPr lang="en-US" sz="2200" dirty="0"/>
              <a:t>Remove the piezo stage. </a:t>
            </a:r>
          </a:p>
        </p:txBody>
      </p:sp>
    </p:spTree>
    <p:extLst>
      <p:ext uri="{BB962C8B-B14F-4D97-AF65-F5344CB8AC3E}">
        <p14:creationId xmlns:p14="http://schemas.microsoft.com/office/powerpoint/2010/main" val="668515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6958</TotalTime>
  <Words>493</Words>
  <Application>Microsoft Office PowerPoint</Application>
  <PresentationFormat>Widescreen</PresentationFormat>
  <Paragraphs>110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Aptos Narrow</vt:lpstr>
      <vt:lpstr>Arial</vt:lpstr>
      <vt:lpstr>Cambria Math</vt:lpstr>
      <vt:lpstr>Courier New</vt:lpstr>
      <vt:lpstr>Office Theme</vt:lpstr>
      <vt:lpstr>Chirp rate for RCBG </vt:lpstr>
      <vt:lpstr>Bandwidth calculation</vt:lpstr>
      <vt:lpstr>Different lenses</vt:lpstr>
      <vt:lpstr>How get this equation </vt:lpstr>
      <vt:lpstr>PowerPoint Presentation</vt:lpstr>
      <vt:lpstr>PowerPoint Presentation</vt:lpstr>
      <vt:lpstr>One plane wave and spherical waves for recording</vt:lpstr>
      <vt:lpstr>Example of recording </vt:lpstr>
      <vt:lpstr>Example of recording </vt:lpstr>
      <vt:lpstr>Recording considerations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Shaghayegh Yaraghi</dc:creator>
  <cp:lastModifiedBy>Shaghayegh Yaraghi</cp:lastModifiedBy>
  <cp:revision>35</cp:revision>
  <dcterms:created xsi:type="dcterms:W3CDTF">2025-04-21T02:29:02Z</dcterms:created>
  <dcterms:modified xsi:type="dcterms:W3CDTF">2025-05-13T20:22:55Z</dcterms:modified>
</cp:coreProperties>
</file>