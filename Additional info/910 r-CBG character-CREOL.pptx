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74" r:id="rId3"/>
    <p:sldId id="2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26" autoAdjust="0"/>
    <p:restoredTop sz="94660"/>
  </p:normalViewPr>
  <p:slideViewPr>
    <p:cSldViewPr snapToGrid="0">
      <p:cViewPr varScale="1">
        <p:scale>
          <a:sx n="84" d="100"/>
          <a:sy n="84" d="100"/>
        </p:scale>
        <p:origin x="2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B Divliansky" userId="41c1a7595b2245b5" providerId="LiveId" clId="{84C9E06E-7AD7-404C-842F-1FE7168B7202}"/>
    <pc:docChg chg="undo custSel modSld">
      <pc:chgData name="Ivan B Divliansky" userId="41c1a7595b2245b5" providerId="LiveId" clId="{84C9E06E-7AD7-404C-842F-1FE7168B7202}" dt="2025-09-11T01:45:28.901" v="5" actId="207"/>
      <pc:docMkLst>
        <pc:docMk/>
      </pc:docMkLst>
      <pc:sldChg chg="addSp delSp mod">
        <pc:chgData name="Ivan B Divliansky" userId="41c1a7595b2245b5" providerId="LiveId" clId="{84C9E06E-7AD7-404C-842F-1FE7168B7202}" dt="2025-09-11T01:45:02.657" v="3" actId="478"/>
        <pc:sldMkLst>
          <pc:docMk/>
          <pc:sldMk cId="2984333663" sldId="274"/>
        </pc:sldMkLst>
        <pc:spChg chg="del">
          <ac:chgData name="Ivan B Divliansky" userId="41c1a7595b2245b5" providerId="LiveId" clId="{84C9E06E-7AD7-404C-842F-1FE7168B7202}" dt="2025-09-11T01:44:55.810" v="0" actId="478"/>
          <ac:spMkLst>
            <pc:docMk/>
            <pc:sldMk cId="2984333663" sldId="274"/>
            <ac:spMk id="44" creationId="{F7419FB1-96CF-5584-351F-627DD61A0C34}"/>
          </ac:spMkLst>
        </pc:spChg>
        <pc:spChg chg="del">
          <ac:chgData name="Ivan B Divliansky" userId="41c1a7595b2245b5" providerId="LiveId" clId="{84C9E06E-7AD7-404C-842F-1FE7168B7202}" dt="2025-09-11T01:45:02.657" v="3" actId="478"/>
          <ac:spMkLst>
            <pc:docMk/>
            <pc:sldMk cId="2984333663" sldId="274"/>
            <ac:spMk id="47" creationId="{D12C9D07-DB4B-A508-61E2-822E5E76B900}"/>
          </ac:spMkLst>
        </pc:spChg>
        <pc:picChg chg="add del">
          <ac:chgData name="Ivan B Divliansky" userId="41c1a7595b2245b5" providerId="LiveId" clId="{84C9E06E-7AD7-404C-842F-1FE7168B7202}" dt="2025-09-11T01:44:59.722" v="2" actId="478"/>
          <ac:picMkLst>
            <pc:docMk/>
            <pc:sldMk cId="2984333663" sldId="274"/>
            <ac:picMk id="31" creationId="{FB454E8C-D6BB-5970-CAC0-7BB3D3C0DB52}"/>
          </ac:picMkLst>
        </pc:picChg>
      </pc:sldChg>
      <pc:sldChg chg="modSp mod">
        <pc:chgData name="Ivan B Divliansky" userId="41c1a7595b2245b5" providerId="LiveId" clId="{84C9E06E-7AD7-404C-842F-1FE7168B7202}" dt="2025-09-11T01:45:28.901" v="5" actId="207"/>
        <pc:sldMkLst>
          <pc:docMk/>
          <pc:sldMk cId="1483390541" sldId="279"/>
        </pc:sldMkLst>
        <pc:spChg chg="mod">
          <ac:chgData name="Ivan B Divliansky" userId="41c1a7595b2245b5" providerId="LiveId" clId="{84C9E06E-7AD7-404C-842F-1FE7168B7202}" dt="2025-09-11T01:45:28.901" v="5" actId="207"/>
          <ac:spMkLst>
            <pc:docMk/>
            <pc:sldMk cId="1483390541" sldId="279"/>
            <ac:spMk id="33" creationId="{DA114EDD-4517-5E8C-A1B0-1D4B1409B2CE}"/>
          </ac:spMkLst>
        </pc:spChg>
        <pc:spChg chg="mod">
          <ac:chgData name="Ivan B Divliansky" userId="41c1a7595b2245b5" providerId="LiveId" clId="{84C9E06E-7AD7-404C-842F-1FE7168B7202}" dt="2025-09-11T01:45:28.901" v="5" actId="207"/>
          <ac:spMkLst>
            <pc:docMk/>
            <pc:sldMk cId="1483390541" sldId="279"/>
            <ac:spMk id="36" creationId="{E30D4FBE-D0FD-0764-23A4-8C8052944BB0}"/>
          </ac:spMkLst>
        </pc:spChg>
        <pc:spChg chg="mod">
          <ac:chgData name="Ivan B Divliansky" userId="41c1a7595b2245b5" providerId="LiveId" clId="{84C9E06E-7AD7-404C-842F-1FE7168B7202}" dt="2025-09-11T01:45:28.901" v="5" actId="207"/>
          <ac:spMkLst>
            <pc:docMk/>
            <pc:sldMk cId="1483390541" sldId="279"/>
            <ac:spMk id="40" creationId="{FA9336B5-DAD0-298D-C5E2-1D304AF9DA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CEC55-297E-44F0-8D82-D5DA73107E6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D1F4A-8A29-4CCD-892B-59A335681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67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D1F4A-8A29-4CCD-892B-59A3356819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76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FB9B0-782F-D2C1-EC3C-26A96CCF8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C7FE6-FFDB-4EE7-ECDC-85A80C710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5C0BA-51B3-5790-DEA9-E92DD3F5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95C3-74A6-4871-A542-A2CA2B89D485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20C24-EEEC-40F9-3B08-B115F442D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2E6C2-4BD3-7861-AC6E-6D1020E9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B3EA-5C66-4F33-A111-BA9C4BE42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47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8B001-0434-E982-CAB9-094684EC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A14DC-D256-B9F8-955F-F6A2D414D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87D33-1F6E-1DC9-D1D5-879AF314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95C3-74A6-4871-A542-A2CA2B89D485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C7B9A-2EF8-298F-977E-B3B476566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4E86B-6A26-842B-254F-6A37ED13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B3EA-5C66-4F33-A111-BA9C4BE42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29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991F-A1E2-B3DC-D4E8-AF4606F3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70DD0-117E-D12B-5619-10040FD6C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2BF0-A950-3994-9574-959020E7B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95C3-74A6-4871-A542-A2CA2B89D485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D568F-33C4-98C4-954A-AD1A0D81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7855F-D968-0755-7271-CC2F7723B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B3EA-5C66-4F33-A111-BA9C4BE42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F6B13-CB70-0A37-21CC-BC6EDB4FD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E86C7-7644-4962-2619-CFF8EE057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9AFAB-DF15-CFB2-6855-864EAE92B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5B84-5CF8-D3D6-0488-2865439D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95C3-74A6-4871-A542-A2CA2B89D485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6E69B-5C8B-7A11-8D5B-79E2B7F62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CAECE-A963-0670-A3FB-AC50C021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B3EA-5C66-4F33-A111-BA9C4BE42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33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4F46F-C9AA-8FEE-4989-D0AF6144C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46980-C257-E12D-DC44-D23BADA2B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35AE6-0FB9-4480-7AB1-7574787D9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F9AF9-40E2-F7E1-F742-41383F9E7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7E99D-690B-857E-3AD0-CFBEFAFB7D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308C2D-AE94-60E4-8263-3BFB423CA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95C3-74A6-4871-A542-A2CA2B89D485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42B3E-C035-2534-BA02-89017C46E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F23BB3-F248-07DB-2BE2-D5CD1EE35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B3EA-5C66-4F33-A111-BA9C4BE42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81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1FF5-5985-AAD9-7860-76D6F35E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8D250C-D29E-7F26-8E48-EF60EC470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95C3-74A6-4871-A542-A2CA2B89D485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D91C0-3245-407D-E1F8-C43DE7FE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DCD86-A3D5-85FC-8943-D1829710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B3EA-5C66-4F33-A111-BA9C4BE42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37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9FD1B-A498-BAEC-4B43-D4D7EF1F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95C3-74A6-4871-A542-A2CA2B89D485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DBF27-CDA2-09C0-25CB-A706AFBDA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380BD-7778-C4A8-28A4-2E4CD30EB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B3EA-5C66-4F33-A111-BA9C4BE42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847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6B366-E77C-1B2A-77DC-D564C54D6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FC7D-28AE-C89F-0638-66B3BF244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9BBF88-DB42-9795-53EB-110898617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0C3C6-82B9-C6A8-0069-0F25997C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95C3-74A6-4871-A542-A2CA2B89D485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654DC-138E-D192-AC6E-35EDE3AE9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E0AD7-49BB-FD0A-A1F7-4558ADDF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B3EA-5C66-4F33-A111-BA9C4BE42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30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6B597-D24C-F4B9-3EC0-D59B4662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C39914-62DC-F59C-165E-66EE6125C0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4F608-5560-4100-B7FD-4081C148F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69721-9116-6190-0D17-905A6D14F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95C3-74A6-4871-A542-A2CA2B89D485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A3E56-D4C1-7BF6-B23E-AE7176A2C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70D2B-E2E2-B1D7-8BCD-0EC664CFD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B3EA-5C66-4F33-A111-BA9C4BE42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20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F1014-6EB3-D598-20A5-84064526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C8047-421C-1C92-56A6-3E1D6D45D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8AC1C-AFC0-3DCA-7E3D-45DA50C7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95C3-74A6-4871-A542-A2CA2B89D485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53840-F444-C51A-C07B-764FE7BB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DA794-E838-7A87-DF09-A28C8975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B3EA-5C66-4F33-A111-BA9C4BE42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71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732EB1-B057-BE0F-BC24-10492AE68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B28A1-DCFE-7AF0-5D6C-55BDCD6B2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671FB-7744-46BA-77E6-033A2B58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95C3-74A6-4871-A542-A2CA2B89D485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F3D2-CA66-28A7-3BAC-53D0B786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2326C-D8BA-2ECF-1BC4-11F977C4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B3EA-5C66-4F33-A111-BA9C4BE42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53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D9F723-B4F9-8232-6483-7C60CAC04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38845-D0D8-6ABC-74CF-C916E376B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7F965-18FE-AA12-2AF0-6D05117DE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AD95C3-74A6-4871-A542-A2CA2B89D485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D751-4F7B-B097-F2F0-8F41A4C63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2893C-76B2-AD8B-BF4E-BEE973DCC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EB3EA-5C66-4F33-A111-BA9C4BE42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94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CBED-ED96-E5DA-4AE2-383DE23F0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910 nm r-CBG </a:t>
            </a:r>
            <a:r>
              <a:rPr lang="en-US" dirty="0" err="1"/>
              <a:t>Charatecterization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681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graph with red lines&#10;&#10;AI-generated content may be incorrect.">
            <a:extLst>
              <a:ext uri="{FF2B5EF4-FFF2-40B4-BE49-F238E27FC236}">
                <a16:creationId xmlns:a16="http://schemas.microsoft.com/office/drawing/2014/main" id="{FB454E8C-D6BB-5970-CAC0-7BB3D3C0D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"/>
                    </a14:imgEffect>
                    <a14:imgEffect>
                      <a14:brightnessContrast contrast="5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73" b="2307"/>
          <a:stretch>
            <a:fillRect/>
          </a:stretch>
        </p:blipFill>
        <p:spPr>
          <a:xfrm>
            <a:off x="8723534" y="1478801"/>
            <a:ext cx="3250649" cy="311718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B88F609-0823-A973-64C7-53B912EDE036}"/>
              </a:ext>
            </a:extLst>
          </p:cNvPr>
          <p:cNvGrpSpPr/>
          <p:nvPr/>
        </p:nvGrpSpPr>
        <p:grpSpPr>
          <a:xfrm rot="16200000">
            <a:off x="2991565" y="684780"/>
            <a:ext cx="3378868" cy="3071572"/>
            <a:chOff x="919496" y="117823"/>
            <a:chExt cx="4250353" cy="399178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75DE7C9-A75D-88D0-CC22-B0855CEAD536}"/>
                </a:ext>
              </a:extLst>
            </p:cNvPr>
            <p:cNvGrpSpPr/>
            <p:nvPr/>
          </p:nvGrpSpPr>
          <p:grpSpPr>
            <a:xfrm rot="19831145">
              <a:off x="1439854" y="748634"/>
              <a:ext cx="2972929" cy="2696635"/>
              <a:chOff x="1136904" y="1126231"/>
              <a:chExt cx="2662401" cy="156406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0B9A953-F91C-5058-29E6-5BC973F4EB37}"/>
                  </a:ext>
                </a:extLst>
              </p:cNvPr>
              <p:cNvSpPr/>
              <p:nvPr/>
            </p:nvSpPr>
            <p:spPr>
              <a:xfrm>
                <a:off x="1136904" y="1126231"/>
                <a:ext cx="2637693" cy="1564064"/>
              </a:xfrm>
              <a:prstGeom prst="rect">
                <a:avLst/>
              </a:prstGeom>
              <a:gradFill flip="none" rotWithShape="1">
                <a:gsLst>
                  <a:gs pos="75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20000"/>
                      <a:lumOff val="80000"/>
                      <a:alpha val="59000"/>
                    </a:schemeClr>
                  </a:gs>
                  <a:gs pos="6000">
                    <a:schemeClr val="accent1">
                      <a:lumMod val="60000"/>
                      <a:lumOff val="40000"/>
                    </a:schemeClr>
                  </a:gs>
                  <a:gs pos="63000">
                    <a:schemeClr val="accent1">
                      <a:lumMod val="20000"/>
                      <a:lumOff val="80000"/>
                    </a:schemeClr>
                  </a:gs>
                  <a:gs pos="53000">
                    <a:schemeClr val="accent1">
                      <a:lumMod val="60000"/>
                      <a:lumOff val="40000"/>
                    </a:schemeClr>
                  </a:gs>
                  <a:gs pos="43000">
                    <a:schemeClr val="accent1">
                      <a:lumMod val="20000"/>
                      <a:lumOff val="80000"/>
                    </a:schemeClr>
                  </a:gs>
                  <a:gs pos="34000">
                    <a:schemeClr val="accent1">
                      <a:lumMod val="60000"/>
                      <a:lumOff val="40000"/>
                    </a:schemeClr>
                  </a:gs>
                  <a:gs pos="26000">
                    <a:schemeClr val="accent1">
                      <a:lumMod val="20000"/>
                      <a:lumOff val="80000"/>
                    </a:schemeClr>
                  </a:gs>
                  <a:gs pos="18000">
                    <a:schemeClr val="accent1">
                      <a:lumMod val="60000"/>
                      <a:lumOff val="40000"/>
                    </a:schemeClr>
                  </a:gs>
                  <a:gs pos="12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8B64D78-59E4-5954-E8EA-1749076603E4}"/>
                  </a:ext>
                </a:extLst>
              </p:cNvPr>
              <p:cNvSpPr/>
              <p:nvPr/>
            </p:nvSpPr>
            <p:spPr>
              <a:xfrm>
                <a:off x="3113504" y="1127521"/>
                <a:ext cx="685801" cy="1541588"/>
              </a:xfrm>
              <a:prstGeom prst="rect">
                <a:avLst/>
              </a:prstGeom>
              <a:gradFill flip="none" rotWithShape="1">
                <a:gsLst>
                  <a:gs pos="78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4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26BDFF6-39A8-CFB9-FA63-13B2460F9E13}"/>
                </a:ext>
              </a:extLst>
            </p:cNvPr>
            <p:cNvSpPr/>
            <p:nvPr/>
          </p:nvSpPr>
          <p:spPr>
            <a:xfrm>
              <a:off x="1300179" y="2837646"/>
              <a:ext cx="3017293" cy="12719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B52D93-0E21-B587-B249-8FF50C7D86FE}"/>
                </a:ext>
              </a:extLst>
            </p:cNvPr>
            <p:cNvSpPr/>
            <p:nvPr/>
          </p:nvSpPr>
          <p:spPr>
            <a:xfrm rot="16200000">
              <a:off x="3714235" y="1504400"/>
              <a:ext cx="1897967" cy="10132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7E087F-8B55-87A3-0954-999CFFAA3CF9}"/>
                </a:ext>
              </a:extLst>
            </p:cNvPr>
            <p:cNvSpPr/>
            <p:nvPr/>
          </p:nvSpPr>
          <p:spPr>
            <a:xfrm rot="16200000">
              <a:off x="337239" y="1644301"/>
              <a:ext cx="1897967" cy="7334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47CB15-6422-F764-BAAE-BCF809AD9D45}"/>
                </a:ext>
              </a:extLst>
            </p:cNvPr>
            <p:cNvSpPr/>
            <p:nvPr/>
          </p:nvSpPr>
          <p:spPr>
            <a:xfrm>
              <a:off x="1387082" y="117823"/>
              <a:ext cx="2821986" cy="11516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D1F16D8-BFFF-C09F-CDDF-74C71DFB6E6F}"/>
              </a:ext>
            </a:extLst>
          </p:cNvPr>
          <p:cNvSpPr/>
          <p:nvPr/>
        </p:nvSpPr>
        <p:spPr>
          <a:xfrm rot="16200000">
            <a:off x="4665955" y="4385426"/>
            <a:ext cx="45719" cy="1022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5FBDC4-1CA1-F250-9502-F7B02131DDFD}"/>
              </a:ext>
            </a:extLst>
          </p:cNvPr>
          <p:cNvSpPr txBox="1"/>
          <p:nvPr/>
        </p:nvSpPr>
        <p:spPr>
          <a:xfrm>
            <a:off x="4715686" y="4892248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badi Extra Light" panose="020B0204020104020204" pitchFamily="34" charset="0"/>
              </a:rPr>
              <a:t>ND Filter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4AD55B-2CDA-02B4-DB7D-B915A9F34F91}"/>
              </a:ext>
            </a:extLst>
          </p:cNvPr>
          <p:cNvSpPr txBox="1"/>
          <p:nvPr/>
        </p:nvSpPr>
        <p:spPr>
          <a:xfrm>
            <a:off x="4347721" y="933884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badi Extra Light" panose="020B0204020104020204" pitchFamily="34" charset="0"/>
              </a:rPr>
              <a:t>RCBG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C99F982-4E83-2C9F-B35B-E375FBD907B1}"/>
              </a:ext>
            </a:extLst>
          </p:cNvPr>
          <p:cNvCxnSpPr>
            <a:cxnSpLocks/>
          </p:cNvCxnSpPr>
          <p:nvPr/>
        </p:nvCxnSpPr>
        <p:spPr>
          <a:xfrm>
            <a:off x="5238044" y="1500827"/>
            <a:ext cx="867632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C12C106-486F-81A4-5D4D-3E945430B6B5}"/>
              </a:ext>
            </a:extLst>
          </p:cNvPr>
          <p:cNvCxnSpPr>
            <a:cxnSpLocks/>
          </p:cNvCxnSpPr>
          <p:nvPr/>
        </p:nvCxnSpPr>
        <p:spPr>
          <a:xfrm>
            <a:off x="5238044" y="2340326"/>
            <a:ext cx="4373068" cy="2516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8BBD415-ECE5-CF17-B6C5-E43EC2BAC363}"/>
              </a:ext>
            </a:extLst>
          </p:cNvPr>
          <p:cNvCxnSpPr>
            <a:cxnSpLocks/>
          </p:cNvCxnSpPr>
          <p:nvPr/>
        </p:nvCxnSpPr>
        <p:spPr>
          <a:xfrm>
            <a:off x="5248852" y="3147596"/>
            <a:ext cx="1142342" cy="526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 descr="A graph of a graph&#10;&#10;AI-generated content may be incorrect.">
            <a:extLst>
              <a:ext uri="{FF2B5EF4-FFF2-40B4-BE49-F238E27FC236}">
                <a16:creationId xmlns:a16="http://schemas.microsoft.com/office/drawing/2014/main" id="{4F822477-BEF3-1B5E-04AA-EC1EB01D0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"/>
                    </a14:imgEffect>
                    <a14:imgEffect>
                      <a14:brightnessContrast bright="3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70" y="28278"/>
            <a:ext cx="2907855" cy="2795920"/>
          </a:xfrm>
          <a:prstGeom prst="rect">
            <a:avLst/>
          </a:prstGeom>
        </p:spPr>
      </p:pic>
      <p:pic>
        <p:nvPicPr>
          <p:cNvPr id="33" name="Picture 32" descr="A graph with a red line&#10;&#10;AI-generated content may be incorrect.">
            <a:extLst>
              <a:ext uri="{FF2B5EF4-FFF2-40B4-BE49-F238E27FC236}">
                <a16:creationId xmlns:a16="http://schemas.microsoft.com/office/drawing/2014/main" id="{6CEDB44C-678E-13B9-1893-35D24DB886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3000"/>
                    </a14:imgEffect>
                    <a14:imgEffect>
                      <a14:brightnessContrast bright="3000"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427"/>
          <a:stretch>
            <a:fillRect/>
          </a:stretch>
        </p:blipFill>
        <p:spPr>
          <a:xfrm>
            <a:off x="6080510" y="3910003"/>
            <a:ext cx="3530602" cy="254629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44A4760-BD43-CBE9-F5AA-8B4B961F03E3}"/>
              </a:ext>
            </a:extLst>
          </p:cNvPr>
          <p:cNvSpPr txBox="1"/>
          <p:nvPr/>
        </p:nvSpPr>
        <p:spPr>
          <a:xfrm>
            <a:off x="6381774" y="5238061"/>
            <a:ext cx="23072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21% of 920 ~ like source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3F1274A-7B6E-77A7-EED6-64C47A20A2B9}"/>
              </a:ext>
            </a:extLst>
          </p:cNvPr>
          <p:cNvCxnSpPr/>
          <p:nvPr/>
        </p:nvCxnSpPr>
        <p:spPr>
          <a:xfrm flipH="1">
            <a:off x="5335629" y="-27447"/>
            <a:ext cx="39029" cy="6879361"/>
          </a:xfrm>
          <a:prstGeom prst="line">
            <a:avLst/>
          </a:prstGeom>
          <a:ln w="9525">
            <a:solidFill>
              <a:schemeClr val="dk1">
                <a:alpha val="18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itle 1">
            <a:extLst>
              <a:ext uri="{FF2B5EF4-FFF2-40B4-BE49-F238E27FC236}">
                <a16:creationId xmlns:a16="http://schemas.microsoft.com/office/drawing/2014/main" id="{E4275109-58FB-9D47-361A-9F5D7E5B1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55" y="2515240"/>
            <a:ext cx="2575058" cy="552173"/>
          </a:xfrm>
        </p:spPr>
        <p:txBody>
          <a:bodyPr>
            <a:noAutofit/>
          </a:bodyPr>
          <a:lstStyle/>
          <a:p>
            <a:r>
              <a:rPr lang="en-US" sz="2600" dirty="0"/>
              <a:t>Source spectrum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CC2EC08-B925-C4E7-EFFC-2CC7B9C09406}"/>
              </a:ext>
            </a:extLst>
          </p:cNvPr>
          <p:cNvGrpSpPr/>
          <p:nvPr/>
        </p:nvGrpSpPr>
        <p:grpSpPr>
          <a:xfrm>
            <a:off x="116084" y="3241490"/>
            <a:ext cx="4572730" cy="3505947"/>
            <a:chOff x="116085" y="3250588"/>
            <a:chExt cx="4572730" cy="350594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E488AEB-B5B6-F679-2D07-40B46E447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contrast="6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6085" y="3412234"/>
              <a:ext cx="4392617" cy="2619962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CA000BF-4495-7E57-2CC4-66A8296787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0998" y="4933797"/>
              <a:ext cx="7694" cy="1451763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D1A230A-EA90-1C5F-D24A-D1E3D303DE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0660" y="4722215"/>
              <a:ext cx="980862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5B88DFF-5777-6A12-3E38-3E1998EB29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8815" y="3361342"/>
              <a:ext cx="0" cy="1506773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F14D2FB-3D41-75A0-0284-35A66DCAA37C}"/>
                </a:ext>
              </a:extLst>
            </p:cNvPr>
            <p:cNvSpPr/>
            <p:nvPr/>
          </p:nvSpPr>
          <p:spPr>
            <a:xfrm>
              <a:off x="1660739" y="3840679"/>
              <a:ext cx="218710" cy="22801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12B1D84-A8D2-61A2-C0B2-494756CC245B}"/>
                </a:ext>
              </a:extLst>
            </p:cNvPr>
            <p:cNvSpPr/>
            <p:nvPr/>
          </p:nvSpPr>
          <p:spPr>
            <a:xfrm>
              <a:off x="1287150" y="4901795"/>
              <a:ext cx="218710" cy="22801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F76A95B-5AC2-3C63-8143-C3F492B47E4B}"/>
                </a:ext>
              </a:extLst>
            </p:cNvPr>
            <p:cNvSpPr/>
            <p:nvPr/>
          </p:nvSpPr>
          <p:spPr>
            <a:xfrm>
              <a:off x="910927" y="5545668"/>
              <a:ext cx="218710" cy="22801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F68B4DF-2FB9-CB42-E4F4-93300A3953A7}"/>
                </a:ext>
              </a:extLst>
            </p:cNvPr>
            <p:cNvSpPr/>
            <p:nvPr/>
          </p:nvSpPr>
          <p:spPr>
            <a:xfrm>
              <a:off x="1421841" y="4210186"/>
              <a:ext cx="3114990" cy="1680522"/>
            </a:xfrm>
            <a:custGeom>
              <a:avLst/>
              <a:gdLst>
                <a:gd name="connsiteX0" fmla="*/ 0 w 3084844"/>
                <a:gd name="connsiteY0" fmla="*/ 683361 h 1680522"/>
                <a:gd name="connsiteX1" fmla="*/ 65314 w 3084844"/>
                <a:gd name="connsiteY1" fmla="*/ 311572 h 1680522"/>
                <a:gd name="connsiteX2" fmla="*/ 195943 w 3084844"/>
                <a:gd name="connsiteY2" fmla="*/ 55339 h 1680522"/>
                <a:gd name="connsiteX3" fmla="*/ 597877 w 3084844"/>
                <a:gd name="connsiteY3" fmla="*/ 5098 h 1680522"/>
                <a:gd name="connsiteX4" fmla="*/ 979714 w 3084844"/>
                <a:gd name="connsiteY4" fmla="*/ 35243 h 1680522"/>
                <a:gd name="connsiteX5" fmla="*/ 1230923 w 3084844"/>
                <a:gd name="connsiteY5" fmla="*/ 301524 h 1680522"/>
                <a:gd name="connsiteX6" fmla="*/ 1436914 w 3084844"/>
                <a:gd name="connsiteY6" fmla="*/ 808966 h 1680522"/>
                <a:gd name="connsiteX7" fmla="*/ 1718268 w 3084844"/>
                <a:gd name="connsiteY7" fmla="*/ 1210900 h 1680522"/>
                <a:gd name="connsiteX8" fmla="*/ 2130250 w 3084844"/>
                <a:gd name="connsiteY8" fmla="*/ 1482205 h 1680522"/>
                <a:gd name="connsiteX9" fmla="*/ 2677886 w 3084844"/>
                <a:gd name="connsiteY9" fmla="*/ 1658051 h 1680522"/>
                <a:gd name="connsiteX10" fmla="*/ 3084844 w 3084844"/>
                <a:gd name="connsiteY10" fmla="*/ 1678148 h 1680522"/>
                <a:gd name="connsiteX11" fmla="*/ 3084844 w 3084844"/>
                <a:gd name="connsiteY11" fmla="*/ 1678148 h 168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84844" h="1680522">
                  <a:moveTo>
                    <a:pt x="0" y="683361"/>
                  </a:moveTo>
                  <a:cubicBezTo>
                    <a:pt x="16328" y="549801"/>
                    <a:pt x="32657" y="416242"/>
                    <a:pt x="65314" y="311572"/>
                  </a:cubicBezTo>
                  <a:cubicBezTo>
                    <a:pt x="97971" y="206902"/>
                    <a:pt x="107183" y="106418"/>
                    <a:pt x="195943" y="55339"/>
                  </a:cubicBezTo>
                  <a:cubicBezTo>
                    <a:pt x="284703" y="4260"/>
                    <a:pt x="467249" y="8447"/>
                    <a:pt x="597877" y="5098"/>
                  </a:cubicBezTo>
                  <a:cubicBezTo>
                    <a:pt x="728505" y="1749"/>
                    <a:pt x="874206" y="-14161"/>
                    <a:pt x="979714" y="35243"/>
                  </a:cubicBezTo>
                  <a:cubicBezTo>
                    <a:pt x="1085222" y="84647"/>
                    <a:pt x="1154723" y="172570"/>
                    <a:pt x="1230923" y="301524"/>
                  </a:cubicBezTo>
                  <a:cubicBezTo>
                    <a:pt x="1307123" y="430478"/>
                    <a:pt x="1355690" y="657403"/>
                    <a:pt x="1436914" y="808966"/>
                  </a:cubicBezTo>
                  <a:cubicBezTo>
                    <a:pt x="1518138" y="960529"/>
                    <a:pt x="1602712" y="1098694"/>
                    <a:pt x="1718268" y="1210900"/>
                  </a:cubicBezTo>
                  <a:cubicBezTo>
                    <a:pt x="1833824" y="1323107"/>
                    <a:pt x="1970314" y="1407680"/>
                    <a:pt x="2130250" y="1482205"/>
                  </a:cubicBezTo>
                  <a:cubicBezTo>
                    <a:pt x="2290186" y="1556730"/>
                    <a:pt x="2518787" y="1625394"/>
                    <a:pt x="2677886" y="1658051"/>
                  </a:cubicBezTo>
                  <a:cubicBezTo>
                    <a:pt x="2836985" y="1690708"/>
                    <a:pt x="3084844" y="1678148"/>
                    <a:pt x="3084844" y="1678148"/>
                  </a:cubicBezTo>
                  <a:lnTo>
                    <a:pt x="3084844" y="1678148"/>
                  </a:lnTo>
                </a:path>
              </a:pathLst>
            </a:custGeom>
            <a:noFill/>
            <a:ln w="95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6C5D2C8-E52A-B522-09A9-0AD017580E39}"/>
                </a:ext>
              </a:extLst>
            </p:cNvPr>
            <p:cNvSpPr/>
            <p:nvPr/>
          </p:nvSpPr>
          <p:spPr>
            <a:xfrm>
              <a:off x="246160" y="4909118"/>
              <a:ext cx="1175681" cy="996440"/>
            </a:xfrm>
            <a:custGeom>
              <a:avLst/>
              <a:gdLst>
                <a:gd name="connsiteX0" fmla="*/ 1185706 w 1185706"/>
                <a:gd name="connsiteY0" fmla="*/ 0 h 952547"/>
                <a:gd name="connsiteX1" fmla="*/ 1040005 w 1185706"/>
                <a:gd name="connsiteY1" fmla="*/ 391886 h 952547"/>
                <a:gd name="connsiteX2" fmla="*/ 904352 w 1185706"/>
                <a:gd name="connsiteY2" fmla="*/ 577781 h 952547"/>
                <a:gd name="connsiteX3" fmla="*/ 703385 w 1185706"/>
                <a:gd name="connsiteY3" fmla="*/ 778748 h 952547"/>
                <a:gd name="connsiteX4" fmla="*/ 437104 w 1185706"/>
                <a:gd name="connsiteY4" fmla="*/ 909376 h 952547"/>
                <a:gd name="connsiteX5" fmla="*/ 110532 w 1185706"/>
                <a:gd name="connsiteY5" fmla="*/ 949570 h 952547"/>
                <a:gd name="connsiteX6" fmla="*/ 0 w 1185706"/>
                <a:gd name="connsiteY6" fmla="*/ 949570 h 952547"/>
                <a:gd name="connsiteX7" fmla="*/ 0 w 1185706"/>
                <a:gd name="connsiteY7" fmla="*/ 949570 h 9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5706" h="952547">
                  <a:moveTo>
                    <a:pt x="1185706" y="0"/>
                  </a:moveTo>
                  <a:cubicBezTo>
                    <a:pt x="1136301" y="147794"/>
                    <a:pt x="1086897" y="295589"/>
                    <a:pt x="1040005" y="391886"/>
                  </a:cubicBezTo>
                  <a:cubicBezTo>
                    <a:pt x="993113" y="488183"/>
                    <a:pt x="960455" y="513304"/>
                    <a:pt x="904352" y="577781"/>
                  </a:cubicBezTo>
                  <a:cubicBezTo>
                    <a:pt x="848249" y="642258"/>
                    <a:pt x="781260" y="723482"/>
                    <a:pt x="703385" y="778748"/>
                  </a:cubicBezTo>
                  <a:cubicBezTo>
                    <a:pt x="625510" y="834014"/>
                    <a:pt x="535913" y="880906"/>
                    <a:pt x="437104" y="909376"/>
                  </a:cubicBezTo>
                  <a:cubicBezTo>
                    <a:pt x="338295" y="937846"/>
                    <a:pt x="183383" y="942871"/>
                    <a:pt x="110532" y="949570"/>
                  </a:cubicBezTo>
                  <a:cubicBezTo>
                    <a:pt x="37681" y="956269"/>
                    <a:pt x="0" y="949570"/>
                    <a:pt x="0" y="949570"/>
                  </a:cubicBezTo>
                  <a:lnTo>
                    <a:pt x="0" y="949570"/>
                  </a:lnTo>
                </a:path>
              </a:pathLst>
            </a:custGeom>
            <a:noFill/>
            <a:ln w="95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414CCF-C8F1-A4E5-075A-A158F43A576D}"/>
                </a:ext>
              </a:extLst>
            </p:cNvPr>
            <p:cNvSpPr txBox="1"/>
            <p:nvPr/>
          </p:nvSpPr>
          <p:spPr>
            <a:xfrm>
              <a:off x="825725" y="5742657"/>
              <a:ext cx="8579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22% of 920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664EAFA-6770-CB68-301A-5A4C4D1D9BED}"/>
                </a:ext>
              </a:extLst>
            </p:cNvPr>
            <p:cNvSpPr txBox="1"/>
            <p:nvPr/>
          </p:nvSpPr>
          <p:spPr>
            <a:xfrm>
              <a:off x="1457204" y="4893750"/>
              <a:ext cx="8579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60% of 920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3D1E75B-68D4-9DDF-4CAF-D0E182B021EE}"/>
                </a:ext>
              </a:extLst>
            </p:cNvPr>
            <p:cNvCxnSpPr>
              <a:cxnSpLocks/>
            </p:cNvCxnSpPr>
            <p:nvPr/>
          </p:nvCxnSpPr>
          <p:spPr>
            <a:xfrm>
              <a:off x="1768854" y="3250588"/>
              <a:ext cx="0" cy="3385343"/>
            </a:xfrm>
            <a:prstGeom prst="line">
              <a:avLst/>
            </a:prstGeom>
            <a:ln w="6350">
              <a:solidFill>
                <a:schemeClr val="dk1">
                  <a:alpha val="8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FAC207A-BF82-D2AF-F0DA-F2A927344B14}"/>
                </a:ext>
              </a:extLst>
            </p:cNvPr>
            <p:cNvSpPr txBox="1"/>
            <p:nvPr/>
          </p:nvSpPr>
          <p:spPr>
            <a:xfrm rot="16200000">
              <a:off x="1522363" y="6292145"/>
              <a:ext cx="6671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 920 nm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DB9A798-2899-B91E-355E-CCA3C51C844A}"/>
                </a:ext>
              </a:extLst>
            </p:cNvPr>
            <p:cNvCxnSpPr>
              <a:cxnSpLocks/>
            </p:cNvCxnSpPr>
            <p:nvPr/>
          </p:nvCxnSpPr>
          <p:spPr>
            <a:xfrm>
              <a:off x="1384456" y="3269157"/>
              <a:ext cx="0" cy="3385343"/>
            </a:xfrm>
            <a:prstGeom prst="line">
              <a:avLst/>
            </a:prstGeom>
            <a:ln w="6350">
              <a:solidFill>
                <a:schemeClr val="dk1">
                  <a:alpha val="8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A4D786E-519D-75D9-B9FA-CA8C3E1CBA16}"/>
                </a:ext>
              </a:extLst>
            </p:cNvPr>
            <p:cNvSpPr txBox="1"/>
            <p:nvPr/>
          </p:nvSpPr>
          <p:spPr>
            <a:xfrm rot="16200000">
              <a:off x="1130958" y="6290477"/>
              <a:ext cx="6671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 910 nm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7C585C1-2141-3B49-9F97-F0FEEA15B7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713" y="3269157"/>
              <a:ext cx="0" cy="3385343"/>
            </a:xfrm>
            <a:prstGeom prst="line">
              <a:avLst/>
            </a:prstGeom>
            <a:ln w="6350">
              <a:solidFill>
                <a:schemeClr val="dk1">
                  <a:alpha val="8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D2F6027-4DB1-6C27-493E-C484EEF539B8}"/>
                </a:ext>
              </a:extLst>
            </p:cNvPr>
            <p:cNvSpPr txBox="1"/>
            <p:nvPr/>
          </p:nvSpPr>
          <p:spPr>
            <a:xfrm rot="16200000">
              <a:off x="757215" y="6290477"/>
              <a:ext cx="6671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 900 nm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758BAE8-8E48-69CD-2B21-B182297DDD08}"/>
              </a:ext>
            </a:extLst>
          </p:cNvPr>
          <p:cNvSpPr txBox="1"/>
          <p:nvPr/>
        </p:nvSpPr>
        <p:spPr>
          <a:xfrm>
            <a:off x="8126703" y="117057"/>
            <a:ext cx="841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920 nm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138106-040D-29BE-920C-536E726EB59E}"/>
              </a:ext>
            </a:extLst>
          </p:cNvPr>
          <p:cNvSpPr txBox="1"/>
          <p:nvPr/>
        </p:nvSpPr>
        <p:spPr>
          <a:xfrm>
            <a:off x="6463040" y="4040909"/>
            <a:ext cx="841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900 nm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838D7F-973A-3F18-DBB9-95E3FB36CCD1}"/>
              </a:ext>
            </a:extLst>
          </p:cNvPr>
          <p:cNvSpPr txBox="1"/>
          <p:nvPr/>
        </p:nvSpPr>
        <p:spPr>
          <a:xfrm>
            <a:off x="9067733" y="1647090"/>
            <a:ext cx="841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910 nm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6CB41C-758B-9685-1E29-E58CB47C8FC3}"/>
              </a:ext>
            </a:extLst>
          </p:cNvPr>
          <p:cNvCxnSpPr/>
          <p:nvPr/>
        </p:nvCxnSpPr>
        <p:spPr>
          <a:xfrm>
            <a:off x="6216785" y="3250588"/>
            <a:ext cx="343041" cy="590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33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FE66E-F113-BA10-60BD-8A8A39A3D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08" y="1406541"/>
            <a:ext cx="3154052" cy="917309"/>
          </a:xfrm>
        </p:spPr>
        <p:txBody>
          <a:bodyPr>
            <a:noAutofit/>
          </a:bodyPr>
          <a:lstStyle/>
          <a:p>
            <a:r>
              <a:rPr lang="en-US" sz="2600" dirty="0"/>
              <a:t>Intensity measured by linear CCD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7A471A-C045-47CD-5A86-9B81C29FB228}"/>
              </a:ext>
            </a:extLst>
          </p:cNvPr>
          <p:cNvGrpSpPr/>
          <p:nvPr/>
        </p:nvGrpSpPr>
        <p:grpSpPr>
          <a:xfrm rot="16200000">
            <a:off x="-9654" y="2730570"/>
            <a:ext cx="2739367" cy="2612493"/>
            <a:chOff x="919495" y="117823"/>
            <a:chExt cx="4250354" cy="399178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4430F8C-5FD7-01ED-F81C-09296E0D293A}"/>
                </a:ext>
              </a:extLst>
            </p:cNvPr>
            <p:cNvGrpSpPr/>
            <p:nvPr/>
          </p:nvGrpSpPr>
          <p:grpSpPr>
            <a:xfrm rot="19831145">
              <a:off x="1465094" y="744218"/>
              <a:ext cx="2950041" cy="2707777"/>
              <a:chOff x="1157400" y="1127521"/>
              <a:chExt cx="2641905" cy="157052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3AFA381-445F-0A3E-FE44-4EDA238D9AF2}"/>
                  </a:ext>
                </a:extLst>
              </p:cNvPr>
              <p:cNvSpPr/>
              <p:nvPr/>
            </p:nvSpPr>
            <p:spPr>
              <a:xfrm>
                <a:off x="1157400" y="1133984"/>
                <a:ext cx="2637693" cy="1564064"/>
              </a:xfrm>
              <a:prstGeom prst="rect">
                <a:avLst/>
              </a:prstGeom>
              <a:gradFill flip="none" rotWithShape="1">
                <a:gsLst>
                  <a:gs pos="75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20000"/>
                      <a:lumOff val="80000"/>
                      <a:alpha val="59000"/>
                    </a:schemeClr>
                  </a:gs>
                  <a:gs pos="6000">
                    <a:schemeClr val="accent1">
                      <a:lumMod val="60000"/>
                      <a:lumOff val="40000"/>
                    </a:schemeClr>
                  </a:gs>
                  <a:gs pos="63000">
                    <a:schemeClr val="accent1">
                      <a:lumMod val="20000"/>
                      <a:lumOff val="80000"/>
                    </a:schemeClr>
                  </a:gs>
                  <a:gs pos="53000">
                    <a:schemeClr val="accent1">
                      <a:lumMod val="60000"/>
                      <a:lumOff val="40000"/>
                    </a:schemeClr>
                  </a:gs>
                  <a:gs pos="43000">
                    <a:schemeClr val="accent1">
                      <a:lumMod val="20000"/>
                      <a:lumOff val="80000"/>
                    </a:schemeClr>
                  </a:gs>
                  <a:gs pos="34000">
                    <a:schemeClr val="accent1">
                      <a:lumMod val="60000"/>
                      <a:lumOff val="40000"/>
                    </a:schemeClr>
                  </a:gs>
                  <a:gs pos="26000">
                    <a:schemeClr val="accent1">
                      <a:lumMod val="20000"/>
                      <a:lumOff val="80000"/>
                    </a:schemeClr>
                  </a:gs>
                  <a:gs pos="18000">
                    <a:schemeClr val="accent1">
                      <a:lumMod val="60000"/>
                      <a:lumOff val="40000"/>
                    </a:schemeClr>
                  </a:gs>
                  <a:gs pos="12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D422E2F-BF4B-4E92-3AC6-745134305500}"/>
                  </a:ext>
                </a:extLst>
              </p:cNvPr>
              <p:cNvSpPr/>
              <p:nvPr/>
            </p:nvSpPr>
            <p:spPr>
              <a:xfrm>
                <a:off x="3113504" y="1127521"/>
                <a:ext cx="685801" cy="1541588"/>
              </a:xfrm>
              <a:prstGeom prst="rect">
                <a:avLst/>
              </a:prstGeom>
              <a:gradFill flip="none" rotWithShape="1">
                <a:gsLst>
                  <a:gs pos="78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4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1020BC-B600-C862-0182-64F9E789FC3E}"/>
                </a:ext>
              </a:extLst>
            </p:cNvPr>
            <p:cNvSpPr/>
            <p:nvPr/>
          </p:nvSpPr>
          <p:spPr>
            <a:xfrm>
              <a:off x="1300179" y="2837646"/>
              <a:ext cx="3017293" cy="12719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5846FE9-257F-91B3-2B5B-E571F64D0DD9}"/>
                </a:ext>
              </a:extLst>
            </p:cNvPr>
            <p:cNvSpPr/>
            <p:nvPr/>
          </p:nvSpPr>
          <p:spPr>
            <a:xfrm rot="16200000">
              <a:off x="3714235" y="1504400"/>
              <a:ext cx="1897967" cy="10132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F5DFC5B-83FA-F2D9-917E-9F8CE78A6D78}"/>
                </a:ext>
              </a:extLst>
            </p:cNvPr>
            <p:cNvSpPr/>
            <p:nvPr/>
          </p:nvSpPr>
          <p:spPr>
            <a:xfrm rot="16200000">
              <a:off x="350806" y="1630734"/>
              <a:ext cx="1897967" cy="760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DDB560-C6E4-0161-25AD-0312D603B838}"/>
                </a:ext>
              </a:extLst>
            </p:cNvPr>
            <p:cNvSpPr/>
            <p:nvPr/>
          </p:nvSpPr>
          <p:spPr>
            <a:xfrm>
              <a:off x="1387082" y="117823"/>
              <a:ext cx="2821986" cy="11516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6A62C59-F6AD-BB21-C1BB-B84C887DD504}"/>
              </a:ext>
            </a:extLst>
          </p:cNvPr>
          <p:cNvGrpSpPr/>
          <p:nvPr/>
        </p:nvGrpSpPr>
        <p:grpSpPr>
          <a:xfrm>
            <a:off x="777074" y="2796851"/>
            <a:ext cx="2768998" cy="4130573"/>
            <a:chOff x="777074" y="2796851"/>
            <a:chExt cx="2768998" cy="413057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1343D0-99C0-7B88-B682-339D6F8E76B6}"/>
                </a:ext>
              </a:extLst>
            </p:cNvPr>
            <p:cNvSpPr txBox="1"/>
            <p:nvPr/>
          </p:nvSpPr>
          <p:spPr>
            <a:xfrm>
              <a:off x="777074" y="2969355"/>
              <a:ext cx="601540" cy="2994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badi Extra Light" panose="020B0204020104020204" pitchFamily="34" charset="0"/>
                </a:rPr>
                <a:t>RCBG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C694FC3-B3B0-2A70-A8E5-CDC71B47A7A0}"/>
                </a:ext>
              </a:extLst>
            </p:cNvPr>
            <p:cNvSpPr/>
            <p:nvPr/>
          </p:nvSpPr>
          <p:spPr>
            <a:xfrm>
              <a:off x="3152239" y="3204353"/>
              <a:ext cx="197689" cy="184465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304800" h="209550" prst="coolSlant"/>
              <a:bevelB w="323850" h="304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0D31842-465D-B50D-4C76-85548AEABDD3}"/>
                </a:ext>
              </a:extLst>
            </p:cNvPr>
            <p:cNvSpPr txBox="1"/>
            <p:nvPr/>
          </p:nvSpPr>
          <p:spPr>
            <a:xfrm>
              <a:off x="2977647" y="2796851"/>
              <a:ext cx="568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badi Extra Light" panose="020B0204020104020204" pitchFamily="34" charset="0"/>
                </a:rPr>
                <a:t>LCD</a:t>
              </a:r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6532B625-A932-AA58-E48E-85DE7D667E06}"/>
                </a:ext>
              </a:extLst>
            </p:cNvPr>
            <p:cNvSpPr/>
            <p:nvPr/>
          </p:nvSpPr>
          <p:spPr>
            <a:xfrm>
              <a:off x="1814798" y="3038495"/>
              <a:ext cx="1308480" cy="2225697"/>
            </a:xfrm>
            <a:prstGeom prst="rightArrow">
              <a:avLst>
                <a:gd name="adj1" fmla="val 83409"/>
                <a:gd name="adj2" fmla="val 64820"/>
              </a:avLst>
            </a:prstGeom>
            <a:solidFill>
              <a:schemeClr val="accent5">
                <a:lumMod val="75000"/>
                <a:alpha val="34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2FC0528-F8FB-37F3-8F00-8A378424E442}"/>
                </a:ext>
              </a:extLst>
            </p:cNvPr>
            <p:cNvCxnSpPr>
              <a:cxnSpLocks/>
            </p:cNvCxnSpPr>
            <p:nvPr/>
          </p:nvCxnSpPr>
          <p:spPr>
            <a:xfrm>
              <a:off x="1814798" y="3348876"/>
              <a:ext cx="737955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4228009-4E5C-C49D-4FDE-12279C286AFB}"/>
                </a:ext>
              </a:extLst>
            </p:cNvPr>
            <p:cNvCxnSpPr>
              <a:cxnSpLocks/>
            </p:cNvCxnSpPr>
            <p:nvPr/>
          </p:nvCxnSpPr>
          <p:spPr>
            <a:xfrm>
              <a:off x="1814798" y="4094655"/>
              <a:ext cx="737955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E140D40-4342-499C-1931-27E3CCBBC3FB}"/>
                </a:ext>
              </a:extLst>
            </p:cNvPr>
            <p:cNvCxnSpPr>
              <a:cxnSpLocks/>
            </p:cNvCxnSpPr>
            <p:nvPr/>
          </p:nvCxnSpPr>
          <p:spPr>
            <a:xfrm>
              <a:off x="1815979" y="4859752"/>
              <a:ext cx="737955" cy="0"/>
            </a:xfrm>
            <a:prstGeom prst="straightConnector1">
              <a:avLst/>
            </a:prstGeom>
            <a:ln w="38100">
              <a:solidFill>
                <a:schemeClr val="accent1">
                  <a:alpha val="83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EBB5D59-14C0-7BC9-E43C-C5768CA3A3BF}"/>
                </a:ext>
              </a:extLst>
            </p:cNvPr>
            <p:cNvSpPr/>
            <p:nvPr/>
          </p:nvSpPr>
          <p:spPr>
            <a:xfrm>
              <a:off x="2640625" y="4075912"/>
              <a:ext cx="58203" cy="1651773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B8AE0B23-370B-8F67-1FEE-7262F4BBAAD3}"/>
                </a:ext>
              </a:extLst>
            </p:cNvPr>
            <p:cNvSpPr/>
            <p:nvPr/>
          </p:nvSpPr>
          <p:spPr>
            <a:xfrm rot="16200000">
              <a:off x="888028" y="5131580"/>
              <a:ext cx="839202" cy="384357"/>
            </a:xfrm>
            <a:prstGeom prst="rightArrow">
              <a:avLst>
                <a:gd name="adj1" fmla="val 67881"/>
                <a:gd name="adj2" fmla="val 47541"/>
              </a:avLst>
            </a:prstGeom>
            <a:solidFill>
              <a:schemeClr val="accent5">
                <a:lumMod val="75000"/>
                <a:alpha val="66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51EF73D-EB79-5A9D-63AB-71942C1B8AA2}"/>
                </a:ext>
              </a:extLst>
            </p:cNvPr>
            <p:cNvSpPr txBox="1"/>
            <p:nvPr/>
          </p:nvSpPr>
          <p:spPr>
            <a:xfrm rot="5400000">
              <a:off x="1453425" y="5354718"/>
              <a:ext cx="27760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badi Extra Light" panose="020B0204020104020204" pitchFamily="34" charset="0"/>
                </a:rPr>
                <a:t>Block the beam with a paper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5DB13B6-62C0-05C1-A697-7098B07E26A3}"/>
                </a:ext>
              </a:extLst>
            </p:cNvPr>
            <p:cNvCxnSpPr>
              <a:cxnSpLocks/>
              <a:stCxn id="23" idx="1"/>
              <a:endCxn id="23" idx="3"/>
            </p:cNvCxnSpPr>
            <p:nvPr/>
          </p:nvCxnSpPr>
          <p:spPr>
            <a:xfrm flipH="1" flipV="1">
              <a:off x="1307629" y="4904158"/>
              <a:ext cx="1" cy="839202"/>
            </a:xfrm>
            <a:prstGeom prst="straightConnector1">
              <a:avLst/>
            </a:prstGeom>
            <a:ln w="38100">
              <a:solidFill>
                <a:schemeClr val="accent5">
                  <a:lumMod val="50000"/>
                  <a:alpha val="83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F7216752-E88A-9CAB-EEEE-4DB24B8C8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447" y="571418"/>
            <a:ext cx="7620218" cy="571516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72A7A85-C641-6646-E4BE-432B873348E4}"/>
              </a:ext>
            </a:extLst>
          </p:cNvPr>
          <p:cNvCxnSpPr>
            <a:cxnSpLocks/>
          </p:cNvCxnSpPr>
          <p:nvPr/>
        </p:nvCxnSpPr>
        <p:spPr>
          <a:xfrm>
            <a:off x="6024383" y="3038495"/>
            <a:ext cx="0" cy="3385343"/>
          </a:xfrm>
          <a:prstGeom prst="line">
            <a:avLst/>
          </a:prstGeom>
          <a:ln w="15875">
            <a:solidFill>
              <a:schemeClr val="dk1">
                <a:alpha val="47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A114EDD-4517-5E8C-A1B0-1D4B1409B2CE}"/>
              </a:ext>
            </a:extLst>
          </p:cNvPr>
          <p:cNvSpPr txBox="1"/>
          <p:nvPr/>
        </p:nvSpPr>
        <p:spPr>
          <a:xfrm rot="16200000">
            <a:off x="5480163" y="6132693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920 nm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FAECA4B-8151-343C-5E33-408A3A7C908A}"/>
              </a:ext>
            </a:extLst>
          </p:cNvPr>
          <p:cNvCxnSpPr>
            <a:cxnSpLocks/>
          </p:cNvCxnSpPr>
          <p:nvPr/>
        </p:nvCxnSpPr>
        <p:spPr>
          <a:xfrm>
            <a:off x="8256431" y="2723034"/>
            <a:ext cx="0" cy="3843481"/>
          </a:xfrm>
          <a:prstGeom prst="line">
            <a:avLst/>
          </a:prstGeom>
          <a:ln w="15875">
            <a:solidFill>
              <a:schemeClr val="dk1">
                <a:alpha val="47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30D4FBE-D0FD-0764-23A4-8C8052944BB0}"/>
              </a:ext>
            </a:extLst>
          </p:cNvPr>
          <p:cNvSpPr txBox="1"/>
          <p:nvPr/>
        </p:nvSpPr>
        <p:spPr>
          <a:xfrm rot="16200000">
            <a:off x="7722947" y="6373427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910 nm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DDA1852-00BF-FDB7-5E91-537FDE2171E0}"/>
              </a:ext>
            </a:extLst>
          </p:cNvPr>
          <p:cNvCxnSpPr>
            <a:cxnSpLocks/>
          </p:cNvCxnSpPr>
          <p:nvPr/>
        </p:nvCxnSpPr>
        <p:spPr>
          <a:xfrm>
            <a:off x="10101777" y="2580357"/>
            <a:ext cx="0" cy="3843481"/>
          </a:xfrm>
          <a:prstGeom prst="line">
            <a:avLst/>
          </a:prstGeom>
          <a:ln w="15875">
            <a:solidFill>
              <a:schemeClr val="dk1">
                <a:alpha val="47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A9336B5-DAD0-298D-C5E2-1D304AF9DA14}"/>
              </a:ext>
            </a:extLst>
          </p:cNvPr>
          <p:cNvSpPr txBox="1"/>
          <p:nvPr/>
        </p:nvSpPr>
        <p:spPr>
          <a:xfrm rot="16200000">
            <a:off x="9811842" y="6201322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900 nm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BE8485-DC9E-2BBD-7408-8B6EDD728616}"/>
              </a:ext>
            </a:extLst>
          </p:cNvPr>
          <p:cNvSpPr txBox="1"/>
          <p:nvPr/>
        </p:nvSpPr>
        <p:spPr>
          <a:xfrm>
            <a:off x="8426198" y="1202193"/>
            <a:ext cx="1155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Blocked </a:t>
            </a:r>
          </a:p>
          <a:p>
            <a:r>
              <a:rPr lang="en-US" sz="1400" dirty="0">
                <a:solidFill>
                  <a:srgbClr val="00B050"/>
                </a:solidFill>
              </a:rPr>
              <a:t>wavelengths</a:t>
            </a:r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7741236D-59E2-1A90-C001-673DD661E290}"/>
              </a:ext>
            </a:extLst>
          </p:cNvPr>
          <p:cNvSpPr/>
          <p:nvPr/>
        </p:nvSpPr>
        <p:spPr>
          <a:xfrm>
            <a:off x="9581322" y="1129699"/>
            <a:ext cx="55676" cy="705727"/>
          </a:xfrm>
          <a:prstGeom prst="leftBracket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90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21770</TotalTime>
  <Words>64</Words>
  <Application>Microsoft Office PowerPoint</Application>
  <PresentationFormat>Widescreen</PresentationFormat>
  <Paragraphs>23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Abadi Extra Light</vt:lpstr>
      <vt:lpstr>Aptos</vt:lpstr>
      <vt:lpstr>Aptos Display</vt:lpstr>
      <vt:lpstr>Arial</vt:lpstr>
      <vt:lpstr>Office Theme</vt:lpstr>
      <vt:lpstr>910 nm r-CBG Charatecterization</vt:lpstr>
      <vt:lpstr>Source spectrum</vt:lpstr>
      <vt:lpstr>Intensity measured by linear CCD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Shaghayegh Yaraghi</dc:creator>
  <cp:lastModifiedBy>Ivan Divliansky</cp:lastModifiedBy>
  <cp:revision>137</cp:revision>
  <dcterms:created xsi:type="dcterms:W3CDTF">2025-07-07T02:03:44Z</dcterms:created>
  <dcterms:modified xsi:type="dcterms:W3CDTF">2025-09-11T01:45:34Z</dcterms:modified>
</cp:coreProperties>
</file>